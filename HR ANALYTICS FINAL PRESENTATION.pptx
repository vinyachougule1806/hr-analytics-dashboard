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Poppins"/>
      <p:regular r:id="rId18"/>
      <p:bold r:id="rId19"/>
      <p:italic r:id="rId20"/>
      <p:boldItalic r:id="rId21"/>
    </p:embeddedFont>
    <p:embeddedFont>
      <p:font typeface="Lato"/>
      <p:regular r:id="rId22"/>
      <p:bold r:id="rId23"/>
      <p:italic r:id="rId24"/>
      <p:boldItalic r:id="rId25"/>
    </p:embeddedFont>
    <p:embeddedFont>
      <p:font typeface="Lato Light"/>
      <p:regular r:id="rId26"/>
      <p:bold r:id="rId27"/>
      <p:italic r:id="rId28"/>
      <p:boldItalic r:id="rId29"/>
    </p:embeddedFont>
    <p:embeddedFont>
      <p:font typeface="Poppins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italic.fntdata"/><Relationship Id="rId22" Type="http://schemas.openxmlformats.org/officeDocument/2006/relationships/font" Target="fonts/Lato-regular.fntdata"/><Relationship Id="rId21" Type="http://schemas.openxmlformats.org/officeDocument/2006/relationships/font" Target="fonts/Poppins-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Light-regular.fntdata"/><Relationship Id="rId25" Type="http://schemas.openxmlformats.org/officeDocument/2006/relationships/font" Target="fonts/Lato-boldItalic.fntdata"/><Relationship Id="rId28" Type="http://schemas.openxmlformats.org/officeDocument/2006/relationships/font" Target="fonts/LatoLight-italic.fntdata"/><Relationship Id="rId27" Type="http://schemas.openxmlformats.org/officeDocument/2006/relationships/font" Target="fonts/LatoLigh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Light-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SemiBold-bold.fntdata"/><Relationship Id="rId30" Type="http://schemas.openxmlformats.org/officeDocument/2006/relationships/font" Target="fonts/PoppinsSemiBold-regular.fntdata"/><Relationship Id="rId11" Type="http://schemas.openxmlformats.org/officeDocument/2006/relationships/slide" Target="slides/slide6.xml"/><Relationship Id="rId33" Type="http://schemas.openxmlformats.org/officeDocument/2006/relationships/font" Target="fonts/PoppinsSemiBold-boldItalic.fntdata"/><Relationship Id="rId10" Type="http://schemas.openxmlformats.org/officeDocument/2006/relationships/slide" Target="slides/slide5.xml"/><Relationship Id="rId32" Type="http://schemas.openxmlformats.org/officeDocument/2006/relationships/font" Target="fonts/PoppinsSemi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oppins-bold.fntdata"/><Relationship Id="rId18" Type="http://schemas.openxmlformats.org/officeDocument/2006/relationships/font" Target="fonts/Poppi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73e573d2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e73e573d2a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73e573d2a_2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e73e573d2a_2_2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16.jpg"/><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28.jpg"/><Relationship Id="rId7"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53.jpg"/><Relationship Id="rId7"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42.png"/><Relationship Id="rId7" Type="http://schemas.openxmlformats.org/officeDocument/2006/relationships/image" Target="../media/image1.png"/></Relationships>
</file>

<file path=ppt/slides/_rels/slide7.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7.png"/><Relationship Id="rId13" Type="http://schemas.openxmlformats.org/officeDocument/2006/relationships/image" Target="../media/image31.png"/><Relationship Id="rId12" Type="http://schemas.openxmlformats.org/officeDocument/2006/relationships/image" Target="../media/image12.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8.png"/><Relationship Id="rId15" Type="http://schemas.openxmlformats.org/officeDocument/2006/relationships/image" Target="../media/image17.png"/><Relationship Id="rId14" Type="http://schemas.openxmlformats.org/officeDocument/2006/relationships/image" Target="../media/image25.png"/><Relationship Id="rId17" Type="http://schemas.openxmlformats.org/officeDocument/2006/relationships/image" Target="../media/image22.png"/><Relationship Id="rId16" Type="http://schemas.openxmlformats.org/officeDocument/2006/relationships/image" Target="../media/image30.png"/><Relationship Id="rId5" Type="http://schemas.openxmlformats.org/officeDocument/2006/relationships/image" Target="../media/image26.png"/><Relationship Id="rId19" Type="http://schemas.openxmlformats.org/officeDocument/2006/relationships/image" Target="../media/image1.png"/><Relationship Id="rId6" Type="http://schemas.openxmlformats.org/officeDocument/2006/relationships/image" Target="../media/image24.png"/><Relationship Id="rId18" Type="http://schemas.openxmlformats.org/officeDocument/2006/relationships/image" Target="../media/image21.png"/><Relationship Id="rId7" Type="http://schemas.openxmlformats.org/officeDocument/2006/relationships/image" Target="../media/image19.png"/><Relationship Id="rId8" Type="http://schemas.openxmlformats.org/officeDocument/2006/relationships/image" Target="../media/image23.png"/></Relationships>
</file>

<file path=ppt/slides/_rels/slide8.xml.rels><?xml version="1.0" encoding="UTF-8" standalone="yes"?><Relationships xmlns="http://schemas.openxmlformats.org/package/2006/relationships"><Relationship Id="rId11" Type="http://schemas.openxmlformats.org/officeDocument/2006/relationships/image" Target="../media/image33.png"/><Relationship Id="rId10" Type="http://schemas.openxmlformats.org/officeDocument/2006/relationships/image" Target="../media/image67.png"/><Relationship Id="rId13" Type="http://schemas.openxmlformats.org/officeDocument/2006/relationships/image" Target="../media/image71.png"/><Relationship Id="rId12" Type="http://schemas.openxmlformats.org/officeDocument/2006/relationships/image" Target="../media/image39.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35.png"/><Relationship Id="rId9" Type="http://schemas.openxmlformats.org/officeDocument/2006/relationships/image" Target="../media/image8.png"/><Relationship Id="rId14" Type="http://schemas.openxmlformats.org/officeDocument/2006/relationships/image" Target="../media/image41.png"/><Relationship Id="rId5" Type="http://schemas.openxmlformats.org/officeDocument/2006/relationships/image" Target="../media/image47.png"/><Relationship Id="rId6" Type="http://schemas.openxmlformats.org/officeDocument/2006/relationships/image" Target="../media/image29.png"/><Relationship Id="rId7" Type="http://schemas.openxmlformats.org/officeDocument/2006/relationships/image" Target="../media/image55.png"/><Relationship Id="rId8" Type="http://schemas.openxmlformats.org/officeDocument/2006/relationships/image" Target="../media/image34.png"/></Relationships>
</file>

<file path=ppt/slides/_rels/slide9.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46.png"/><Relationship Id="rId13" Type="http://schemas.openxmlformats.org/officeDocument/2006/relationships/image" Target="../media/image60.png"/><Relationship Id="rId12" Type="http://schemas.openxmlformats.org/officeDocument/2006/relationships/image" Target="../media/image36.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38.png"/><Relationship Id="rId9" Type="http://schemas.openxmlformats.org/officeDocument/2006/relationships/image" Target="../media/image32.png"/><Relationship Id="rId15" Type="http://schemas.openxmlformats.org/officeDocument/2006/relationships/image" Target="../media/image51.png"/><Relationship Id="rId14" Type="http://schemas.openxmlformats.org/officeDocument/2006/relationships/image" Target="../media/image48.png"/><Relationship Id="rId17" Type="http://schemas.openxmlformats.org/officeDocument/2006/relationships/image" Target="../media/image56.png"/><Relationship Id="rId16" Type="http://schemas.openxmlformats.org/officeDocument/2006/relationships/image" Target="../media/image54.png"/><Relationship Id="rId5" Type="http://schemas.openxmlformats.org/officeDocument/2006/relationships/image" Target="../media/image37.png"/><Relationship Id="rId19" Type="http://schemas.openxmlformats.org/officeDocument/2006/relationships/image" Target="../media/image45.png"/><Relationship Id="rId6" Type="http://schemas.openxmlformats.org/officeDocument/2006/relationships/image" Target="../media/image43.png"/><Relationship Id="rId18" Type="http://schemas.openxmlformats.org/officeDocument/2006/relationships/image" Target="../media/image58.png"/><Relationship Id="rId7" Type="http://schemas.openxmlformats.org/officeDocument/2006/relationships/image" Target="../media/image40.png"/><Relationship Id="rId8" Type="http://schemas.openxmlformats.org/officeDocument/2006/relationships/image" Target="../media/image8.png"/></Relationships>
</file>

<file path=ppt/slides/_rels/slide10.xml.rels><?xml version="1.0" encoding="UTF-8" standalone="yes"?><Relationships xmlns="http://schemas.openxmlformats.org/package/2006/relationships"><Relationship Id="rId11" Type="http://schemas.openxmlformats.org/officeDocument/2006/relationships/image" Target="../media/image52.png"/><Relationship Id="rId10" Type="http://schemas.openxmlformats.org/officeDocument/2006/relationships/image" Target="../media/image72.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62.png"/><Relationship Id="rId9" Type="http://schemas.openxmlformats.org/officeDocument/2006/relationships/image" Target="../media/image49.png"/><Relationship Id="rId5" Type="http://schemas.openxmlformats.org/officeDocument/2006/relationships/image" Target="../media/image59.png"/><Relationship Id="rId6" Type="http://schemas.openxmlformats.org/officeDocument/2006/relationships/image" Target="../media/image8.png"/><Relationship Id="rId7" Type="http://schemas.openxmlformats.org/officeDocument/2006/relationships/image" Target="../media/image73.png"/><Relationship Id="rId8" Type="http://schemas.openxmlformats.org/officeDocument/2006/relationships/image" Target="../media/image50.png"/></Relationships>
</file>

<file path=ppt/slides/_rels/slide11.xml.rels><?xml version="1.0" encoding="UTF-8" standalone="yes"?><Relationships xmlns="http://schemas.openxmlformats.org/package/2006/relationships"><Relationship Id="rId11" Type="http://schemas.openxmlformats.org/officeDocument/2006/relationships/image" Target="../media/image69.png"/><Relationship Id="rId10" Type="http://schemas.openxmlformats.org/officeDocument/2006/relationships/image" Target="../media/image70.png"/><Relationship Id="rId12" Type="http://schemas.openxmlformats.org/officeDocument/2006/relationships/image" Target="../media/image68.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61.png"/><Relationship Id="rId9" Type="http://schemas.openxmlformats.org/officeDocument/2006/relationships/image" Target="../media/image57.png"/><Relationship Id="rId5" Type="http://schemas.openxmlformats.org/officeDocument/2006/relationships/image" Target="../media/image65.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66.png"/><Relationship Id="rId5"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191000" y="4612630"/>
            <a:ext cx="3810000" cy="619125"/>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762000" y="571500"/>
            <a:ext cx="10668000" cy="56554"/>
          </a:xfrm>
          <a:prstGeom prst="rect">
            <a:avLst/>
          </a:prstGeom>
          <a:noFill/>
          <a:ln>
            <a:noFill/>
          </a:ln>
        </p:spPr>
      </p:pic>
      <p:sp>
        <p:nvSpPr>
          <p:cNvPr id="87" name="Google Shape;87;p13"/>
          <p:cNvSpPr txBox="1"/>
          <p:nvPr/>
        </p:nvSpPr>
        <p:spPr>
          <a:xfrm>
            <a:off x="1465421" y="2187624"/>
            <a:ext cx="9261157" cy="1139130"/>
          </a:xfrm>
          <a:prstGeom prst="rect">
            <a:avLst/>
          </a:prstGeom>
          <a:noFill/>
          <a:ln>
            <a:noFill/>
          </a:ln>
        </p:spPr>
        <p:txBody>
          <a:bodyPr anchorCtr="0" anchor="t" bIns="0" lIns="0" spcFirstLastPara="1" rIns="0" wrap="square" tIns="0">
            <a:spAutoFit/>
          </a:bodyPr>
          <a:lstStyle/>
          <a:p>
            <a:pPr indent="0" lvl="0" marL="0" marR="0" rtl="0" algn="ctr">
              <a:lnSpc>
                <a:spcPct val="114974"/>
              </a:lnSpc>
              <a:spcBef>
                <a:spcPts val="0"/>
              </a:spcBef>
              <a:spcAft>
                <a:spcPts val="0"/>
              </a:spcAft>
              <a:buNone/>
            </a:pPr>
            <a:r>
              <a:rPr b="1" i="0" lang="en-US" sz="3900" u="none" cap="none" strike="noStrike">
                <a:solidFill>
                  <a:srgbClr val="0F172A"/>
                </a:solidFill>
                <a:latin typeface="Poppins"/>
                <a:ea typeface="Poppins"/>
                <a:cs typeface="Poppins"/>
                <a:sym typeface="Poppins"/>
              </a:rPr>
              <a:t>HR Analytics Dashboard:</a:t>
            </a:r>
            <a:br>
              <a:rPr b="0" i="0" lang="en-US" sz="1800" u="none" cap="none" strike="noStrike">
                <a:solidFill>
                  <a:schemeClr val="dk1"/>
                </a:solidFill>
                <a:latin typeface="Calibri"/>
                <a:ea typeface="Calibri"/>
                <a:cs typeface="Calibri"/>
                <a:sym typeface="Calibri"/>
              </a:rPr>
            </a:br>
            <a:r>
              <a:rPr b="1" i="0" lang="en-US" sz="3900" u="none" cap="none" strike="noStrike">
                <a:solidFill>
                  <a:srgbClr val="0F172A"/>
                </a:solidFill>
                <a:latin typeface="Poppins"/>
                <a:ea typeface="Poppins"/>
                <a:cs typeface="Poppins"/>
                <a:sym typeface="Poppins"/>
              </a:rPr>
              <a:t> An End-to-End Workforce Analysis</a:t>
            </a:r>
            <a:endParaRPr/>
          </a:p>
        </p:txBody>
      </p:sp>
      <p:sp>
        <p:nvSpPr>
          <p:cNvPr id="88" name="Google Shape;88;p13"/>
          <p:cNvSpPr txBox="1"/>
          <p:nvPr/>
        </p:nvSpPr>
        <p:spPr>
          <a:xfrm>
            <a:off x="2047875" y="3564880"/>
            <a:ext cx="8096250" cy="571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475569"/>
                </a:solidFill>
                <a:latin typeface="Lato Light"/>
                <a:ea typeface="Lato Light"/>
                <a:cs typeface="Lato Light"/>
                <a:sym typeface="Lato Light"/>
              </a:rPr>
              <a:t>A Multi-Platform Pipeline for Headcount, Turnover, and Retention Metrics Using SQL, Excel, Power BI, and Tableau</a:t>
            </a:r>
            <a:endParaRPr/>
          </a:p>
        </p:txBody>
      </p:sp>
      <p:sp>
        <p:nvSpPr>
          <p:cNvPr id="89" name="Google Shape;89;p13"/>
          <p:cNvSpPr txBox="1"/>
          <p:nvPr/>
        </p:nvSpPr>
        <p:spPr>
          <a:xfrm>
            <a:off x="4191000" y="4812655"/>
            <a:ext cx="3810000"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75" u="none" cap="none" strike="noStrike">
                <a:solidFill>
                  <a:srgbClr val="475569"/>
                </a:solidFill>
                <a:latin typeface="Lato"/>
                <a:ea typeface="Lato"/>
                <a:cs typeface="Lato"/>
                <a:sym typeface="Lato"/>
              </a:rPr>
              <a:t>PRESENTED BY</a:t>
            </a:r>
            <a:endParaRPr/>
          </a:p>
        </p:txBody>
      </p:sp>
      <p:sp>
        <p:nvSpPr>
          <p:cNvPr id="90" name="Google Shape;90;p13"/>
          <p:cNvSpPr txBox="1"/>
          <p:nvPr/>
        </p:nvSpPr>
        <p:spPr>
          <a:xfrm>
            <a:off x="4191000" y="5022205"/>
            <a:ext cx="38100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172A"/>
                </a:solidFill>
                <a:latin typeface="Lato"/>
                <a:ea typeface="Lato"/>
                <a:cs typeface="Lato"/>
                <a:sym typeface="Lato"/>
              </a:rPr>
              <a:t>Group 1</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4" name="Shape 94"/>
        <p:cNvGrpSpPr/>
        <p:nvPr/>
      </p:nvGrpSpPr>
      <p:grpSpPr>
        <a:xfrm>
          <a:off x="0" y="0"/>
          <a:ext cx="0" cy="0"/>
          <a:chOff x="0" y="0"/>
          <a:chExt cx="0" cy="0"/>
        </a:xfrm>
      </p:grpSpPr>
      <p:pic>
        <p:nvPicPr>
          <p:cNvPr descr="image.png" id="95" name="Google Shape;95;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6" name="Google Shape;96;p14"/>
          <p:cNvPicPr preferRelativeResize="0"/>
          <p:nvPr/>
        </p:nvPicPr>
        <p:blipFill rotWithShape="1">
          <a:blip r:embed="rId4">
            <a:alphaModFix/>
          </a:blip>
          <a:srcRect b="0" l="0" r="0" t="0"/>
          <a:stretch/>
        </p:blipFill>
        <p:spPr>
          <a:xfrm>
            <a:off x="762000" y="571500"/>
            <a:ext cx="10668000" cy="57150"/>
          </a:xfrm>
          <a:prstGeom prst="rect">
            <a:avLst/>
          </a:prstGeom>
          <a:noFill/>
          <a:ln>
            <a:noFill/>
          </a:ln>
        </p:spPr>
      </p:pic>
      <p:sp>
        <p:nvSpPr>
          <p:cNvPr id="97" name="Google Shape;97;p14"/>
          <p:cNvSpPr txBox="1"/>
          <p:nvPr/>
        </p:nvSpPr>
        <p:spPr>
          <a:xfrm>
            <a:off x="1619250" y="2038796"/>
            <a:ext cx="9477375" cy="52863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172A"/>
                </a:solidFill>
                <a:latin typeface="Lato"/>
                <a:ea typeface="Lato"/>
                <a:cs typeface="Lato"/>
                <a:sym typeface="Lato"/>
              </a:rPr>
              <a:t>Evaluate</a:t>
            </a:r>
            <a:r>
              <a:rPr b="0" i="0" lang="en-US" sz="1350" u="none" cap="none" strike="noStrike">
                <a:solidFill>
                  <a:srgbClr val="475569"/>
                </a:solidFill>
                <a:latin typeface="Lato"/>
                <a:ea typeface="Lato"/>
                <a:cs typeface="Lato"/>
                <a:sym typeface="Lato"/>
              </a:rPr>
              <a:t> a workforce dataset of 50,000 enterprise records to uncover key trends behind employee attrition, headcount distribution, and compensation structures.</a:t>
            </a:r>
            <a:endParaRPr/>
          </a:p>
        </p:txBody>
      </p:sp>
      <p:sp>
        <p:nvSpPr>
          <p:cNvPr id="98" name="Google Shape;98;p14"/>
          <p:cNvSpPr txBox="1"/>
          <p:nvPr/>
        </p:nvSpPr>
        <p:spPr>
          <a:xfrm>
            <a:off x="1619250" y="2796033"/>
            <a:ext cx="9477375" cy="52863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172A"/>
                </a:solidFill>
                <a:latin typeface="Lato"/>
                <a:ea typeface="Lato"/>
                <a:cs typeface="Lato"/>
                <a:sym typeface="Lato"/>
              </a:rPr>
              <a:t>Implement</a:t>
            </a:r>
            <a:r>
              <a:rPr b="0" i="0" lang="en-US" sz="1350" u="none" cap="none" strike="noStrike">
                <a:solidFill>
                  <a:srgbClr val="475569"/>
                </a:solidFill>
                <a:latin typeface="Lato"/>
                <a:ea typeface="Lato"/>
                <a:cs typeface="Lato"/>
                <a:sym typeface="Lato"/>
              </a:rPr>
              <a:t> a synchronized data workflow across four major industry tools: SQL (validation), Excel (ingestion), Power BI (modeling), and Tableau (trend analysis).</a:t>
            </a:r>
            <a:endParaRPr/>
          </a:p>
        </p:txBody>
      </p:sp>
      <p:sp>
        <p:nvSpPr>
          <p:cNvPr id="99" name="Google Shape;99;p14"/>
          <p:cNvSpPr txBox="1"/>
          <p:nvPr/>
        </p:nvSpPr>
        <p:spPr>
          <a:xfrm>
            <a:off x="1619250" y="3553271"/>
            <a:ext cx="9477375" cy="52863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172A"/>
                </a:solidFill>
                <a:latin typeface="Lato"/>
                <a:ea typeface="Lato"/>
                <a:cs typeface="Lato"/>
                <a:sym typeface="Lato"/>
              </a:rPr>
              <a:t>Baseline</a:t>
            </a:r>
            <a:r>
              <a:rPr b="0" i="0" lang="en-US" sz="1350" u="none" cap="none" strike="noStrike">
                <a:solidFill>
                  <a:srgbClr val="475569"/>
                </a:solidFill>
                <a:latin typeface="Lato"/>
                <a:ea typeface="Lato"/>
                <a:cs typeface="Lato"/>
                <a:sym typeface="Lato"/>
              </a:rPr>
              <a:t> core HR metrics including Total Headcount, Attrition Counts, and Attrition Rates with extreme tool-to-tool mathematical alignment.</a:t>
            </a:r>
            <a:endParaRPr/>
          </a:p>
        </p:txBody>
      </p:sp>
      <p:sp>
        <p:nvSpPr>
          <p:cNvPr id="100" name="Google Shape;100;p14"/>
          <p:cNvSpPr txBox="1"/>
          <p:nvPr/>
        </p:nvSpPr>
        <p:spPr>
          <a:xfrm>
            <a:off x="1619250" y="4310508"/>
            <a:ext cx="9477375" cy="52863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172A"/>
                </a:solidFill>
                <a:latin typeface="Lato"/>
                <a:ea typeface="Lato"/>
                <a:cs typeface="Lato"/>
                <a:sym typeface="Lato"/>
              </a:rPr>
              <a:t>Identify</a:t>
            </a:r>
            <a:r>
              <a:rPr b="0" i="0" lang="en-US" sz="1350" u="none" cap="none" strike="noStrike">
                <a:solidFill>
                  <a:srgbClr val="475569"/>
                </a:solidFill>
                <a:latin typeface="Lato"/>
                <a:ea typeface="Lato"/>
                <a:cs typeface="Lato"/>
                <a:sym typeface="Lato"/>
              </a:rPr>
              <a:t> organizational retention risks by cross-filtering key socio-demographic indicators such as Department, Gender, Income, and Travel Frequency.</a:t>
            </a:r>
            <a:endParaRPr/>
          </a:p>
        </p:txBody>
      </p:sp>
      <p:sp>
        <p:nvSpPr>
          <p:cNvPr id="101" name="Google Shape;101;p14"/>
          <p:cNvSpPr txBox="1"/>
          <p:nvPr/>
        </p:nvSpPr>
        <p:spPr>
          <a:xfrm>
            <a:off x="1619250" y="5067746"/>
            <a:ext cx="9477375" cy="52863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172A"/>
                </a:solidFill>
                <a:latin typeface="Lato"/>
                <a:ea typeface="Lato"/>
                <a:cs typeface="Lato"/>
                <a:sym typeface="Lato"/>
              </a:rPr>
              <a:t>Deliver</a:t>
            </a:r>
            <a:r>
              <a:rPr b="0" i="0" lang="en-US" sz="1350" u="none" cap="none" strike="noStrike">
                <a:solidFill>
                  <a:srgbClr val="475569"/>
                </a:solidFill>
                <a:latin typeface="Lato"/>
                <a:ea typeface="Lato"/>
                <a:cs typeface="Lato"/>
                <a:sym typeface="Lato"/>
              </a:rPr>
              <a:t> interactive, user-friendly business dashboards that transform raw complex data tables into actionable, real-time insights for HR leadership.</a:t>
            </a:r>
            <a:endParaRPr/>
          </a:p>
        </p:txBody>
      </p:sp>
      <p:pic>
        <p:nvPicPr>
          <p:cNvPr descr="image.png" id="102" name="Google Shape;102;p14"/>
          <p:cNvPicPr preferRelativeResize="0"/>
          <p:nvPr/>
        </p:nvPicPr>
        <p:blipFill rotWithShape="1">
          <a:blip r:embed="rId5">
            <a:alphaModFix/>
          </a:blip>
          <a:srcRect b="0" l="0" r="0" t="0"/>
          <a:stretch/>
        </p:blipFill>
        <p:spPr>
          <a:xfrm>
            <a:off x="1190625" y="2057846"/>
            <a:ext cx="200025" cy="247650"/>
          </a:xfrm>
          <a:prstGeom prst="rect">
            <a:avLst/>
          </a:prstGeom>
          <a:noFill/>
          <a:ln>
            <a:noFill/>
          </a:ln>
        </p:spPr>
      </p:pic>
      <p:pic>
        <p:nvPicPr>
          <p:cNvPr descr="image.png" id="103" name="Google Shape;103;p14"/>
          <p:cNvPicPr preferRelativeResize="0"/>
          <p:nvPr/>
        </p:nvPicPr>
        <p:blipFill rotWithShape="1">
          <a:blip r:embed="rId6">
            <a:alphaModFix/>
          </a:blip>
          <a:srcRect b="0" l="0" r="0" t="0"/>
          <a:stretch/>
        </p:blipFill>
        <p:spPr>
          <a:xfrm>
            <a:off x="1190625" y="2815083"/>
            <a:ext cx="228600" cy="247650"/>
          </a:xfrm>
          <a:prstGeom prst="rect">
            <a:avLst/>
          </a:prstGeom>
          <a:noFill/>
          <a:ln>
            <a:noFill/>
          </a:ln>
        </p:spPr>
      </p:pic>
      <p:pic>
        <p:nvPicPr>
          <p:cNvPr descr="image.png" id="104" name="Google Shape;104;p14"/>
          <p:cNvPicPr preferRelativeResize="0"/>
          <p:nvPr/>
        </p:nvPicPr>
        <p:blipFill rotWithShape="1">
          <a:blip r:embed="rId7">
            <a:alphaModFix/>
          </a:blip>
          <a:srcRect b="0" l="0" r="0" t="0"/>
          <a:stretch/>
        </p:blipFill>
        <p:spPr>
          <a:xfrm>
            <a:off x="1190625" y="3572321"/>
            <a:ext cx="228600" cy="247650"/>
          </a:xfrm>
          <a:prstGeom prst="rect">
            <a:avLst/>
          </a:prstGeom>
          <a:noFill/>
          <a:ln>
            <a:noFill/>
          </a:ln>
        </p:spPr>
      </p:pic>
      <p:pic>
        <p:nvPicPr>
          <p:cNvPr descr="image.png" id="105" name="Google Shape;105;p14"/>
          <p:cNvPicPr preferRelativeResize="0"/>
          <p:nvPr/>
        </p:nvPicPr>
        <p:blipFill rotWithShape="1">
          <a:blip r:embed="rId8">
            <a:alphaModFix/>
          </a:blip>
          <a:srcRect b="0" l="0" r="0" t="0"/>
          <a:stretch/>
        </p:blipFill>
        <p:spPr>
          <a:xfrm>
            <a:off x="1190625" y="4329558"/>
            <a:ext cx="285750" cy="247650"/>
          </a:xfrm>
          <a:prstGeom prst="rect">
            <a:avLst/>
          </a:prstGeom>
          <a:noFill/>
          <a:ln>
            <a:noFill/>
          </a:ln>
        </p:spPr>
      </p:pic>
      <p:pic>
        <p:nvPicPr>
          <p:cNvPr descr="image.png" id="106" name="Google Shape;106;p14"/>
          <p:cNvPicPr preferRelativeResize="0"/>
          <p:nvPr/>
        </p:nvPicPr>
        <p:blipFill rotWithShape="1">
          <a:blip r:embed="rId9">
            <a:alphaModFix/>
          </a:blip>
          <a:srcRect b="0" l="0" r="0" t="0"/>
          <a:stretch/>
        </p:blipFill>
        <p:spPr>
          <a:xfrm>
            <a:off x="1190625" y="5086796"/>
            <a:ext cx="257175" cy="247650"/>
          </a:xfrm>
          <a:prstGeom prst="rect">
            <a:avLst/>
          </a:prstGeom>
          <a:noFill/>
          <a:ln>
            <a:noFill/>
          </a:ln>
        </p:spPr>
      </p:pic>
      <p:sp>
        <p:nvSpPr>
          <p:cNvPr id="107" name="Google Shape;107;p14"/>
          <p:cNvSpPr txBox="1"/>
          <p:nvPr/>
        </p:nvSpPr>
        <p:spPr>
          <a:xfrm>
            <a:off x="904875" y="628650"/>
            <a:ext cx="11051381"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850" u="none" cap="none" strike="noStrike">
                <a:solidFill>
                  <a:srgbClr val="0F172A"/>
                </a:solidFill>
                <a:latin typeface="Poppins SemiBold"/>
                <a:ea typeface="Poppins SemiBold"/>
                <a:cs typeface="Poppins SemiBold"/>
                <a:sym typeface="Poppins SemiBold"/>
              </a:rPr>
              <a:t>Objective of the Project</a:t>
            </a:r>
            <a:endParaRPr/>
          </a:p>
        </p:txBody>
      </p:sp>
      <p:sp>
        <p:nvSpPr>
          <p:cNvPr id="108" name="Google Shape;108;p14"/>
          <p:cNvSpPr/>
          <p:nvPr/>
        </p:nvSpPr>
        <p:spPr>
          <a:xfrm>
            <a:off x="762000" y="628650"/>
            <a:ext cx="47625" cy="43428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2" name="Shape 112"/>
        <p:cNvGrpSpPr/>
        <p:nvPr/>
      </p:nvGrpSpPr>
      <p:grpSpPr>
        <a:xfrm>
          <a:off x="0" y="0"/>
          <a:ext cx="0" cy="0"/>
          <a:chOff x="0" y="0"/>
          <a:chExt cx="0" cy="0"/>
        </a:xfrm>
      </p:grpSpPr>
      <p:pic>
        <p:nvPicPr>
          <p:cNvPr descr="image.png" id="113" name="Google Shape;113;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4" name="Google Shape;114;p15"/>
          <p:cNvPicPr preferRelativeResize="0"/>
          <p:nvPr/>
        </p:nvPicPr>
        <p:blipFill rotWithShape="1">
          <a:blip r:embed="rId4">
            <a:alphaModFix/>
          </a:blip>
          <a:srcRect b="0" l="0" r="0" t="0"/>
          <a:stretch/>
        </p:blipFill>
        <p:spPr>
          <a:xfrm>
            <a:off x="6062800" y="2612275"/>
            <a:ext cx="5367200" cy="2413500"/>
          </a:xfrm>
          <a:prstGeom prst="rect">
            <a:avLst/>
          </a:prstGeom>
          <a:noFill/>
          <a:ln>
            <a:noFill/>
          </a:ln>
        </p:spPr>
      </p:pic>
      <p:pic>
        <p:nvPicPr>
          <p:cNvPr descr="image.png" id="115" name="Google Shape;115;p15"/>
          <p:cNvPicPr preferRelativeResize="0"/>
          <p:nvPr/>
        </p:nvPicPr>
        <p:blipFill rotWithShape="1">
          <a:blip r:embed="rId5">
            <a:alphaModFix/>
          </a:blip>
          <a:srcRect b="0" l="0" r="0" t="0"/>
          <a:stretch/>
        </p:blipFill>
        <p:spPr>
          <a:xfrm>
            <a:off x="762000" y="571500"/>
            <a:ext cx="10668000" cy="57150"/>
          </a:xfrm>
          <a:prstGeom prst="rect">
            <a:avLst/>
          </a:prstGeom>
          <a:noFill/>
          <a:ln>
            <a:noFill/>
          </a:ln>
        </p:spPr>
      </p:pic>
      <p:pic>
        <p:nvPicPr>
          <p:cNvPr id="116" name="Google Shape;116;p15" title="EXM.jpeg"/>
          <p:cNvPicPr preferRelativeResize="0"/>
          <p:nvPr/>
        </p:nvPicPr>
        <p:blipFill>
          <a:blip r:embed="rId6">
            <a:alphaModFix/>
          </a:blip>
          <a:stretch>
            <a:fillRect/>
          </a:stretch>
        </p:blipFill>
        <p:spPr>
          <a:xfrm>
            <a:off x="6072325" y="2612272"/>
            <a:ext cx="5348152" cy="2413506"/>
          </a:xfrm>
          <a:prstGeom prst="rect">
            <a:avLst/>
          </a:prstGeom>
          <a:noFill/>
          <a:ln>
            <a:noFill/>
          </a:ln>
        </p:spPr>
      </p:pic>
      <p:sp>
        <p:nvSpPr>
          <p:cNvPr id="117" name="Google Shape;117;p15"/>
          <p:cNvSpPr txBox="1"/>
          <p:nvPr/>
        </p:nvSpPr>
        <p:spPr>
          <a:xfrm>
            <a:off x="904875" y="628650"/>
            <a:ext cx="11051381"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850" u="none" cap="none" strike="noStrike">
                <a:solidFill>
                  <a:srgbClr val="0F172A"/>
                </a:solidFill>
                <a:latin typeface="Poppins SemiBold"/>
                <a:ea typeface="Poppins SemiBold"/>
                <a:cs typeface="Poppins SemiBold"/>
                <a:sym typeface="Poppins SemiBold"/>
              </a:rPr>
              <a:t>Excel Analytical Prototype</a:t>
            </a:r>
            <a:endParaRPr/>
          </a:p>
        </p:txBody>
      </p:sp>
      <p:sp>
        <p:nvSpPr>
          <p:cNvPr id="118" name="Google Shape;118;p15"/>
          <p:cNvSpPr/>
          <p:nvPr/>
        </p:nvSpPr>
        <p:spPr>
          <a:xfrm>
            <a:off x="762000" y="628650"/>
            <a:ext cx="47625" cy="43428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19" name="Google Shape;119;p15"/>
          <p:cNvGrpSpPr/>
          <p:nvPr/>
        </p:nvGrpSpPr>
        <p:grpSpPr>
          <a:xfrm>
            <a:off x="762000" y="1759344"/>
            <a:ext cx="4919775" cy="1015800"/>
            <a:chOff x="762000" y="1817340"/>
            <a:chExt cx="4919775" cy="1015800"/>
          </a:xfrm>
        </p:grpSpPr>
        <p:sp>
          <p:nvSpPr>
            <p:cNvPr id="120" name="Google Shape;120;p15"/>
            <p:cNvSpPr txBox="1"/>
            <p:nvPr/>
          </p:nvSpPr>
          <p:spPr>
            <a:xfrm>
              <a:off x="1095375" y="1817340"/>
              <a:ext cx="45864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Cleaning the Raw Data:</a:t>
              </a:r>
              <a:r>
                <a:rPr b="0" i="0" lang="en-US" sz="1200" u="none" cap="none" strike="noStrike">
                  <a:solidFill>
                    <a:srgbClr val="475569"/>
                  </a:solidFill>
                  <a:latin typeface="Lato"/>
                  <a:ea typeface="Lato"/>
                  <a:cs typeface="Lato"/>
                  <a:sym typeface="Lato"/>
                </a:rPr>
                <a:t> We used Excel as our first step to look through all 50,000 employee records. It helped us quickly find mistakes, remove duplicate information, and make sure the data was clean before moving it to other tools.</a:t>
              </a:r>
              <a:endParaRPr/>
            </a:p>
          </p:txBody>
        </p:sp>
        <p:pic>
          <p:nvPicPr>
            <p:cNvPr descr="image.png" id="121" name="Google Shape;121;p15"/>
            <p:cNvPicPr preferRelativeResize="0"/>
            <p:nvPr/>
          </p:nvPicPr>
          <p:blipFill rotWithShape="1">
            <a:blip r:embed="rId7">
              <a:alphaModFix/>
            </a:blip>
            <a:srcRect b="0" l="0" r="0" t="0"/>
            <a:stretch/>
          </p:blipFill>
          <p:spPr>
            <a:xfrm>
              <a:off x="762000" y="1836390"/>
              <a:ext cx="133350" cy="152400"/>
            </a:xfrm>
            <a:prstGeom prst="rect">
              <a:avLst/>
            </a:prstGeom>
            <a:noFill/>
            <a:ln>
              <a:noFill/>
            </a:ln>
          </p:spPr>
        </p:pic>
      </p:grpSp>
      <p:grpSp>
        <p:nvGrpSpPr>
          <p:cNvPr id="122" name="Google Shape;122;p15"/>
          <p:cNvGrpSpPr/>
          <p:nvPr/>
        </p:nvGrpSpPr>
        <p:grpSpPr>
          <a:xfrm>
            <a:off x="762000" y="2878743"/>
            <a:ext cx="4919775" cy="738900"/>
            <a:chOff x="762000" y="2922240"/>
            <a:chExt cx="4919775" cy="738900"/>
          </a:xfrm>
        </p:grpSpPr>
        <p:sp>
          <p:nvSpPr>
            <p:cNvPr id="123" name="Google Shape;123;p15"/>
            <p:cNvSpPr txBox="1"/>
            <p:nvPr/>
          </p:nvSpPr>
          <p:spPr>
            <a:xfrm>
              <a:off x="1095375" y="2922240"/>
              <a:ext cx="4586400" cy="738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Double-Checking the Numbers:</a:t>
              </a:r>
              <a:r>
                <a:rPr b="0" i="0" lang="en-US" sz="1200" u="none" cap="none" strike="noStrike">
                  <a:solidFill>
                    <a:srgbClr val="475569"/>
                  </a:solidFill>
                  <a:latin typeface="Lato"/>
                  <a:ea typeface="Lato"/>
                  <a:cs typeface="Lato"/>
                  <a:sym typeface="Lato"/>
                </a:rPr>
                <a:t> Excel allowed us to quickly calculate our starting numbers—like the 50.21% attrition rate and the average age of 39. This gave us a solid baseline we knew we could trust.</a:t>
              </a:r>
              <a:endParaRPr/>
            </a:p>
          </p:txBody>
        </p:sp>
        <p:pic>
          <p:nvPicPr>
            <p:cNvPr descr="image.png" id="124" name="Google Shape;124;p15"/>
            <p:cNvPicPr preferRelativeResize="0"/>
            <p:nvPr/>
          </p:nvPicPr>
          <p:blipFill rotWithShape="1">
            <a:blip r:embed="rId7">
              <a:alphaModFix/>
            </a:blip>
            <a:srcRect b="0" l="0" r="0" t="0"/>
            <a:stretch/>
          </p:blipFill>
          <p:spPr>
            <a:xfrm>
              <a:off x="762000" y="2941290"/>
              <a:ext cx="133350" cy="152400"/>
            </a:xfrm>
            <a:prstGeom prst="rect">
              <a:avLst/>
            </a:prstGeom>
            <a:noFill/>
            <a:ln>
              <a:noFill/>
            </a:ln>
          </p:spPr>
        </p:pic>
      </p:grpSp>
      <p:grpSp>
        <p:nvGrpSpPr>
          <p:cNvPr id="125" name="Google Shape;125;p15"/>
          <p:cNvGrpSpPr/>
          <p:nvPr/>
        </p:nvGrpSpPr>
        <p:grpSpPr>
          <a:xfrm>
            <a:off x="762000" y="3682548"/>
            <a:ext cx="4919775" cy="1293000"/>
            <a:chOff x="762000" y="3798540"/>
            <a:chExt cx="4919775" cy="1293000"/>
          </a:xfrm>
        </p:grpSpPr>
        <p:sp>
          <p:nvSpPr>
            <p:cNvPr id="126" name="Google Shape;126;p15"/>
            <p:cNvSpPr txBox="1"/>
            <p:nvPr/>
          </p:nvSpPr>
          <p:spPr>
            <a:xfrm>
              <a:off x="1095375" y="3798540"/>
              <a:ext cx="4586400" cy="129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Grouping Big Numbers:</a:t>
              </a:r>
              <a:r>
                <a:rPr b="0" i="0" lang="en-US" sz="1200" u="none" cap="none" strike="noStrike">
                  <a:solidFill>
                    <a:srgbClr val="475569"/>
                  </a:solidFill>
                  <a:latin typeface="Lato"/>
                  <a:ea typeface="Lato"/>
                  <a:cs typeface="Lato"/>
                  <a:sym typeface="Lato"/>
                </a:rPr>
                <a:t> We used Excel to group complicated numbers into simple categories. For example, instead of looking at thousands of different salaries, we grouped them into clear brackets (like $21k–$31k and $41k–$51k) to see exactly where people were leaving.</a:t>
              </a:r>
              <a:endParaRPr/>
            </a:p>
          </p:txBody>
        </p:sp>
        <p:pic>
          <p:nvPicPr>
            <p:cNvPr descr="image.png" id="127" name="Google Shape;127;p15"/>
            <p:cNvPicPr preferRelativeResize="0"/>
            <p:nvPr/>
          </p:nvPicPr>
          <p:blipFill rotWithShape="1">
            <a:blip r:embed="rId7">
              <a:alphaModFix/>
            </a:blip>
            <a:srcRect b="0" l="0" r="0" t="0"/>
            <a:stretch/>
          </p:blipFill>
          <p:spPr>
            <a:xfrm>
              <a:off x="762000" y="3817590"/>
              <a:ext cx="133350" cy="152400"/>
            </a:xfrm>
            <a:prstGeom prst="rect">
              <a:avLst/>
            </a:prstGeom>
            <a:noFill/>
            <a:ln>
              <a:noFill/>
            </a:ln>
          </p:spPr>
        </p:pic>
      </p:grpSp>
      <p:grpSp>
        <p:nvGrpSpPr>
          <p:cNvPr id="128" name="Google Shape;128;p15"/>
          <p:cNvGrpSpPr/>
          <p:nvPr/>
        </p:nvGrpSpPr>
        <p:grpSpPr>
          <a:xfrm>
            <a:off x="762000" y="4990434"/>
            <a:ext cx="4919775" cy="1015800"/>
            <a:chOff x="762000" y="4903440"/>
            <a:chExt cx="4919775" cy="1015800"/>
          </a:xfrm>
        </p:grpSpPr>
        <p:sp>
          <p:nvSpPr>
            <p:cNvPr id="129" name="Google Shape;129;p15"/>
            <p:cNvSpPr txBox="1"/>
            <p:nvPr/>
          </p:nvSpPr>
          <p:spPr>
            <a:xfrm>
              <a:off x="1095375" y="4903440"/>
              <a:ext cx="45864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Building the First Prototype:</a:t>
              </a:r>
              <a:r>
                <a:rPr b="0" i="0" lang="en-US" sz="1200" u="none" cap="none" strike="noStrike">
                  <a:solidFill>
                    <a:srgbClr val="475569"/>
                  </a:solidFill>
                  <a:latin typeface="Lato"/>
                  <a:ea typeface="Lato"/>
                  <a:cs typeface="Lato"/>
                  <a:sym typeface="Lato"/>
                </a:rPr>
                <a:t> The Excel dashboard (shown in the image) served as our first rough draft. It allowed us to map out our charts and decide on the visual story before building the final dashboards in Power BI and Tableau.</a:t>
              </a:r>
              <a:endParaRPr/>
            </a:p>
          </p:txBody>
        </p:sp>
        <p:pic>
          <p:nvPicPr>
            <p:cNvPr descr="image.png" id="130" name="Google Shape;130;p15"/>
            <p:cNvPicPr preferRelativeResize="0"/>
            <p:nvPr/>
          </p:nvPicPr>
          <p:blipFill rotWithShape="1">
            <a:blip r:embed="rId7">
              <a:alphaModFix/>
            </a:blip>
            <a:srcRect b="0" l="0" r="0" t="0"/>
            <a:stretch/>
          </p:blipFill>
          <p:spPr>
            <a:xfrm>
              <a:off x="762000" y="4922490"/>
              <a:ext cx="133350" cy="15240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4" name="Shape 134"/>
        <p:cNvGrpSpPr/>
        <p:nvPr/>
      </p:nvGrpSpPr>
      <p:grpSpPr>
        <a:xfrm>
          <a:off x="0" y="0"/>
          <a:ext cx="0" cy="0"/>
          <a:chOff x="0" y="0"/>
          <a:chExt cx="0" cy="0"/>
        </a:xfrm>
      </p:grpSpPr>
      <p:pic>
        <p:nvPicPr>
          <p:cNvPr descr="image.png" id="135" name="Google Shape;135;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6" name="Google Shape;136;p16"/>
          <p:cNvPicPr preferRelativeResize="0"/>
          <p:nvPr/>
        </p:nvPicPr>
        <p:blipFill rotWithShape="1">
          <a:blip r:embed="rId4">
            <a:alphaModFix/>
          </a:blip>
          <a:srcRect b="0" l="0" r="0" t="0"/>
          <a:stretch/>
        </p:blipFill>
        <p:spPr>
          <a:xfrm>
            <a:off x="6062800" y="2398750"/>
            <a:ext cx="5367200" cy="2891925"/>
          </a:xfrm>
          <a:prstGeom prst="rect">
            <a:avLst/>
          </a:prstGeom>
          <a:noFill/>
          <a:ln>
            <a:noFill/>
          </a:ln>
        </p:spPr>
      </p:pic>
      <p:pic>
        <p:nvPicPr>
          <p:cNvPr descr="image.png" id="137" name="Google Shape;137;p16"/>
          <p:cNvPicPr preferRelativeResize="0"/>
          <p:nvPr/>
        </p:nvPicPr>
        <p:blipFill rotWithShape="1">
          <a:blip r:embed="rId5">
            <a:alphaModFix/>
          </a:blip>
          <a:srcRect b="0" l="0" r="0" t="0"/>
          <a:stretch/>
        </p:blipFill>
        <p:spPr>
          <a:xfrm>
            <a:off x="762000" y="571500"/>
            <a:ext cx="10668000" cy="57150"/>
          </a:xfrm>
          <a:prstGeom prst="rect">
            <a:avLst/>
          </a:prstGeom>
          <a:noFill/>
          <a:ln>
            <a:noFill/>
          </a:ln>
        </p:spPr>
      </p:pic>
      <p:sp>
        <p:nvSpPr>
          <p:cNvPr id="138" name="Google Shape;138;p16"/>
          <p:cNvSpPr txBox="1"/>
          <p:nvPr/>
        </p:nvSpPr>
        <p:spPr>
          <a:xfrm>
            <a:off x="1095375" y="2923932"/>
            <a:ext cx="45864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Complex Data Modeling:</a:t>
            </a:r>
            <a:r>
              <a:rPr b="0" i="0" lang="en-US" sz="1200" u="none" cap="none" strike="noStrike">
                <a:solidFill>
                  <a:srgbClr val="475569"/>
                </a:solidFill>
                <a:latin typeface="Lato"/>
                <a:ea typeface="Lato"/>
                <a:cs typeface="Lato"/>
                <a:sym typeface="Lato"/>
              </a:rPr>
              <a:t> We used Power BI to create custom "Calculated Columns" and "Measures." This allowed us to build advanced metrics—like finding specific attrition patterns within departments—that standard spreadsheets just couldn't handle.</a:t>
            </a:r>
            <a:endParaRPr/>
          </a:p>
        </p:txBody>
      </p:sp>
      <p:sp>
        <p:nvSpPr>
          <p:cNvPr id="139" name="Google Shape;139;p16"/>
          <p:cNvSpPr txBox="1"/>
          <p:nvPr/>
        </p:nvSpPr>
        <p:spPr>
          <a:xfrm>
            <a:off x="1095375" y="4028832"/>
            <a:ext cx="45864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Interactive Slicers &amp; Filters:</a:t>
            </a:r>
            <a:r>
              <a:rPr b="0" i="0" lang="en-US" sz="1200" u="none" cap="none" strike="noStrike">
                <a:solidFill>
                  <a:srgbClr val="475569"/>
                </a:solidFill>
                <a:latin typeface="Lato"/>
                <a:ea typeface="Lato"/>
                <a:cs typeface="Lato"/>
                <a:sym typeface="Lato"/>
              </a:rPr>
              <a:t> We added interactive tools (slicers) that let users click on a specific department or gender to see the data change instantly. This turned a massive 50,000-record dataset into an easy-to-explore experience.</a:t>
            </a:r>
            <a:endParaRPr/>
          </a:p>
        </p:txBody>
      </p:sp>
      <p:sp>
        <p:nvSpPr>
          <p:cNvPr id="140" name="Google Shape;140;p16"/>
          <p:cNvSpPr txBox="1"/>
          <p:nvPr/>
        </p:nvSpPr>
        <p:spPr>
          <a:xfrm>
            <a:off x="1095375" y="5133732"/>
            <a:ext cx="45864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Deep-Dive Analysis:</a:t>
            </a:r>
            <a:r>
              <a:rPr b="0" i="0" lang="en-US" sz="1200" u="none" cap="none" strike="noStrike">
                <a:solidFill>
                  <a:srgbClr val="475569"/>
                </a:solidFill>
                <a:latin typeface="Lato"/>
                <a:ea typeface="Lato"/>
                <a:cs typeface="Lato"/>
                <a:sym typeface="Lato"/>
              </a:rPr>
              <a:t> Power BI helped us go beyond simple counting. We used it to look for hidden trends, such as which job roles were struggling the most with work-life balance, by visualizing the data in ways that made patterns immediately obvious.</a:t>
            </a:r>
            <a:endParaRPr/>
          </a:p>
        </p:txBody>
      </p:sp>
      <p:pic>
        <p:nvPicPr>
          <p:cNvPr id="141" name="Google Shape;141;p16" title="PON.jpeg"/>
          <p:cNvPicPr preferRelativeResize="0"/>
          <p:nvPr/>
        </p:nvPicPr>
        <p:blipFill>
          <a:blip r:embed="rId6">
            <a:alphaModFix/>
          </a:blip>
          <a:stretch>
            <a:fillRect/>
          </a:stretch>
        </p:blipFill>
        <p:spPr>
          <a:xfrm>
            <a:off x="6072336" y="2398738"/>
            <a:ext cx="5348139" cy="2837703"/>
          </a:xfrm>
          <a:prstGeom prst="rect">
            <a:avLst/>
          </a:prstGeom>
          <a:noFill/>
          <a:ln>
            <a:noFill/>
          </a:ln>
        </p:spPr>
      </p:pic>
      <p:sp>
        <p:nvSpPr>
          <p:cNvPr id="142" name="Google Shape;142;p16"/>
          <p:cNvSpPr txBox="1"/>
          <p:nvPr/>
        </p:nvSpPr>
        <p:spPr>
          <a:xfrm>
            <a:off x="904875" y="628650"/>
            <a:ext cx="11051400" cy="438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850" u="none" cap="none" strike="noStrike">
                <a:solidFill>
                  <a:srgbClr val="0F172A"/>
                </a:solidFill>
                <a:latin typeface="Poppins SemiBold"/>
                <a:ea typeface="Poppins SemiBold"/>
                <a:cs typeface="Poppins SemiBold"/>
                <a:sym typeface="Poppins SemiBold"/>
              </a:rPr>
              <a:t>Power BI Relational Modeling</a:t>
            </a:r>
            <a:endParaRPr/>
          </a:p>
        </p:txBody>
      </p:sp>
      <p:sp>
        <p:nvSpPr>
          <p:cNvPr id="143" name="Google Shape;143;p16"/>
          <p:cNvSpPr/>
          <p:nvPr/>
        </p:nvSpPr>
        <p:spPr>
          <a:xfrm>
            <a:off x="762000" y="628650"/>
            <a:ext cx="47700" cy="43440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44" name="Google Shape;144;p16"/>
          <p:cNvGrpSpPr/>
          <p:nvPr/>
        </p:nvGrpSpPr>
        <p:grpSpPr>
          <a:xfrm>
            <a:off x="762000" y="1601547"/>
            <a:ext cx="4919775" cy="1293000"/>
            <a:chOff x="762000" y="1703040"/>
            <a:chExt cx="4919775" cy="1293000"/>
          </a:xfrm>
        </p:grpSpPr>
        <p:sp>
          <p:nvSpPr>
            <p:cNvPr id="145" name="Google Shape;145;p16"/>
            <p:cNvSpPr txBox="1"/>
            <p:nvPr/>
          </p:nvSpPr>
          <p:spPr>
            <a:xfrm>
              <a:off x="1095375" y="1703040"/>
              <a:ext cx="4586400" cy="129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Creating Smart Relationships:</a:t>
              </a:r>
              <a:r>
                <a:rPr b="0" i="0" lang="en-US" sz="1200" u="none" cap="none" strike="noStrike">
                  <a:solidFill>
                    <a:srgbClr val="475569"/>
                  </a:solidFill>
                  <a:latin typeface="Lato"/>
                  <a:ea typeface="Lato"/>
                  <a:cs typeface="Lato"/>
                  <a:sym typeface="Lato"/>
                </a:rPr>
                <a:t> While Excel is great for flat tables, Power BI allowed us to link different sets of data together (like job roles, departments, and salaries). This created a "relational model" that lets us see how different parts of the business affect one another.</a:t>
              </a:r>
              <a:endParaRPr/>
            </a:p>
          </p:txBody>
        </p:sp>
        <p:pic>
          <p:nvPicPr>
            <p:cNvPr descr="image.png" id="146" name="Google Shape;146;p16"/>
            <p:cNvPicPr preferRelativeResize="0"/>
            <p:nvPr/>
          </p:nvPicPr>
          <p:blipFill rotWithShape="1">
            <a:blip r:embed="rId7">
              <a:alphaModFix/>
            </a:blip>
            <a:srcRect b="0" l="0" r="0" t="0"/>
            <a:stretch/>
          </p:blipFill>
          <p:spPr>
            <a:xfrm>
              <a:off x="762000" y="1722090"/>
              <a:ext cx="133350" cy="152400"/>
            </a:xfrm>
            <a:prstGeom prst="rect">
              <a:avLst/>
            </a:prstGeom>
            <a:noFill/>
            <a:ln>
              <a:noFill/>
            </a:ln>
          </p:spPr>
        </p:pic>
      </p:grpSp>
      <p:pic>
        <p:nvPicPr>
          <p:cNvPr descr="image.png" id="147" name="Google Shape;147;p16"/>
          <p:cNvPicPr preferRelativeResize="0"/>
          <p:nvPr/>
        </p:nvPicPr>
        <p:blipFill rotWithShape="1">
          <a:blip r:embed="rId7">
            <a:alphaModFix/>
          </a:blip>
          <a:srcRect b="0" l="0" r="0" t="0"/>
          <a:stretch/>
        </p:blipFill>
        <p:spPr>
          <a:xfrm>
            <a:off x="762000" y="2942982"/>
            <a:ext cx="133350" cy="152400"/>
          </a:xfrm>
          <a:prstGeom prst="rect">
            <a:avLst/>
          </a:prstGeom>
          <a:noFill/>
          <a:ln>
            <a:noFill/>
          </a:ln>
        </p:spPr>
      </p:pic>
      <p:pic>
        <p:nvPicPr>
          <p:cNvPr descr="image.png" id="148" name="Google Shape;148;p16"/>
          <p:cNvPicPr preferRelativeResize="0"/>
          <p:nvPr/>
        </p:nvPicPr>
        <p:blipFill rotWithShape="1">
          <a:blip r:embed="rId7">
            <a:alphaModFix/>
          </a:blip>
          <a:srcRect b="0" l="0" r="0" t="0"/>
          <a:stretch/>
        </p:blipFill>
        <p:spPr>
          <a:xfrm>
            <a:off x="762000" y="4033383"/>
            <a:ext cx="133350" cy="152400"/>
          </a:xfrm>
          <a:prstGeom prst="rect">
            <a:avLst/>
          </a:prstGeom>
          <a:noFill/>
          <a:ln>
            <a:noFill/>
          </a:ln>
        </p:spPr>
      </p:pic>
      <p:pic>
        <p:nvPicPr>
          <p:cNvPr descr="image.png" id="149" name="Google Shape;149;p16"/>
          <p:cNvPicPr preferRelativeResize="0"/>
          <p:nvPr/>
        </p:nvPicPr>
        <p:blipFill rotWithShape="1">
          <a:blip r:embed="rId7">
            <a:alphaModFix/>
          </a:blip>
          <a:srcRect b="0" l="0" r="0" t="0"/>
          <a:stretch/>
        </p:blipFill>
        <p:spPr>
          <a:xfrm>
            <a:off x="762000" y="5138283"/>
            <a:ext cx="133350" cy="152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3" name="Shape 153"/>
        <p:cNvGrpSpPr/>
        <p:nvPr/>
      </p:nvGrpSpPr>
      <p:grpSpPr>
        <a:xfrm>
          <a:off x="0" y="0"/>
          <a:ext cx="0" cy="0"/>
          <a:chOff x="0" y="0"/>
          <a:chExt cx="0" cy="0"/>
        </a:xfrm>
      </p:grpSpPr>
      <p:pic>
        <p:nvPicPr>
          <p:cNvPr descr="image.png" id="154" name="Google Shape;154;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5" name="Google Shape;155;p17"/>
          <p:cNvPicPr preferRelativeResize="0"/>
          <p:nvPr/>
        </p:nvPicPr>
        <p:blipFill rotWithShape="1">
          <a:blip r:embed="rId4">
            <a:alphaModFix/>
          </a:blip>
          <a:srcRect b="0" l="0" r="0" t="0"/>
          <a:stretch/>
        </p:blipFill>
        <p:spPr>
          <a:xfrm>
            <a:off x="6062800" y="2524000"/>
            <a:ext cx="5367200" cy="2587176"/>
          </a:xfrm>
          <a:prstGeom prst="rect">
            <a:avLst/>
          </a:prstGeom>
          <a:noFill/>
          <a:ln>
            <a:noFill/>
          </a:ln>
        </p:spPr>
      </p:pic>
      <p:pic>
        <p:nvPicPr>
          <p:cNvPr descr="image.png" id="156" name="Google Shape;156;p17"/>
          <p:cNvPicPr preferRelativeResize="0"/>
          <p:nvPr/>
        </p:nvPicPr>
        <p:blipFill rotWithShape="1">
          <a:blip r:embed="rId5">
            <a:alphaModFix/>
          </a:blip>
          <a:srcRect b="0" l="0" r="0" t="0"/>
          <a:stretch/>
        </p:blipFill>
        <p:spPr>
          <a:xfrm>
            <a:off x="762000" y="571500"/>
            <a:ext cx="10668000" cy="57150"/>
          </a:xfrm>
          <a:prstGeom prst="rect">
            <a:avLst/>
          </a:prstGeom>
          <a:noFill/>
          <a:ln>
            <a:noFill/>
          </a:ln>
        </p:spPr>
      </p:pic>
      <p:sp>
        <p:nvSpPr>
          <p:cNvPr id="157" name="Google Shape;157;p17"/>
          <p:cNvSpPr txBox="1"/>
          <p:nvPr/>
        </p:nvSpPr>
        <p:spPr>
          <a:xfrm>
            <a:off x="1095375" y="2160240"/>
            <a:ext cx="4586436" cy="68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Advanced Visuals:</a:t>
            </a:r>
            <a:r>
              <a:rPr b="0" i="0" lang="en-US" sz="1200" u="none" cap="none" strike="noStrike">
                <a:solidFill>
                  <a:srgbClr val="475569"/>
                </a:solidFill>
                <a:latin typeface="Lato"/>
                <a:ea typeface="Lato"/>
                <a:cs typeface="Lato"/>
                <a:sym typeface="Lato"/>
              </a:rPr>
              <a:t> Tableau allowed us to build clean, high-resolution charts like Tree Maps and multi-metric Bar Charts that make complex data easy to understand at a glance.</a:t>
            </a:r>
            <a:endParaRPr/>
          </a:p>
        </p:txBody>
      </p:sp>
      <p:sp>
        <p:nvSpPr>
          <p:cNvPr id="158" name="Google Shape;158;p17"/>
          <p:cNvSpPr txBox="1"/>
          <p:nvPr/>
        </p:nvSpPr>
        <p:spPr>
          <a:xfrm>
            <a:off x="1095375" y="3036540"/>
            <a:ext cx="4586436" cy="68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Interactive Filters:</a:t>
            </a:r>
            <a:r>
              <a:rPr b="0" i="0" lang="en-US" sz="1200" u="none" cap="none" strike="noStrike">
                <a:solidFill>
                  <a:srgbClr val="475569"/>
                </a:solidFill>
                <a:latin typeface="Lato"/>
                <a:ea typeface="Lato"/>
                <a:cs typeface="Lato"/>
                <a:sym typeface="Lato"/>
              </a:rPr>
              <a:t> We included easy-to-use drop-down menus for Gender, Job Role, and Department so users can filter the entire dashboard with one click.</a:t>
            </a:r>
            <a:endParaRPr/>
          </a:p>
        </p:txBody>
      </p:sp>
      <p:sp>
        <p:nvSpPr>
          <p:cNvPr id="159" name="Google Shape;159;p17"/>
          <p:cNvSpPr txBox="1"/>
          <p:nvPr/>
        </p:nvSpPr>
        <p:spPr>
          <a:xfrm>
            <a:off x="1095375" y="3912840"/>
            <a:ext cx="4586436" cy="68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Clear KPI Tracking:</a:t>
            </a:r>
            <a:r>
              <a:rPr b="0" i="0" lang="en-US" sz="1200" u="none" cap="none" strike="noStrike">
                <a:solidFill>
                  <a:srgbClr val="475569"/>
                </a:solidFill>
                <a:latin typeface="Lato"/>
                <a:ea typeface="Lato"/>
                <a:cs typeface="Lato"/>
                <a:sym typeface="Lato"/>
              </a:rPr>
              <a:t> It helped us display our main high-level numbers—like Total Employees (50,000) and Attrition Rate (50.21%)—boldly at the very top for stakeholders.</a:t>
            </a:r>
            <a:endParaRPr/>
          </a:p>
        </p:txBody>
      </p:sp>
      <p:sp>
        <p:nvSpPr>
          <p:cNvPr id="160" name="Google Shape;160;p17"/>
          <p:cNvSpPr txBox="1"/>
          <p:nvPr/>
        </p:nvSpPr>
        <p:spPr>
          <a:xfrm>
            <a:off x="1095375" y="4789140"/>
            <a:ext cx="4586436" cy="68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Executive-Ready Reporting:</a:t>
            </a:r>
            <a:r>
              <a:rPr b="0" i="0" lang="en-US" sz="1200" u="none" cap="none" strike="noStrike">
                <a:solidFill>
                  <a:srgbClr val="475569"/>
                </a:solidFill>
                <a:latin typeface="Lato"/>
                <a:ea typeface="Lato"/>
                <a:cs typeface="Lato"/>
                <a:sym typeface="Lato"/>
              </a:rPr>
              <a:t> It provided a highly professional, interactive interface designed specifically to help leadership make quick, data-driven decisions.</a:t>
            </a:r>
            <a:endParaRPr/>
          </a:p>
        </p:txBody>
      </p:sp>
      <p:pic>
        <p:nvPicPr>
          <p:cNvPr id="161" name="Google Shape;161;p17" title="TABLEAU DASHBORAD - MOHANTY.jpeg"/>
          <p:cNvPicPr preferRelativeResize="0"/>
          <p:nvPr/>
        </p:nvPicPr>
        <p:blipFill>
          <a:blip r:embed="rId6">
            <a:alphaModFix/>
          </a:blip>
          <a:stretch>
            <a:fillRect/>
          </a:stretch>
        </p:blipFill>
        <p:spPr>
          <a:xfrm>
            <a:off x="6072336" y="2524010"/>
            <a:ext cx="5348136" cy="2587161"/>
          </a:xfrm>
          <a:prstGeom prst="rect">
            <a:avLst/>
          </a:prstGeom>
          <a:noFill/>
          <a:ln>
            <a:noFill/>
          </a:ln>
        </p:spPr>
      </p:pic>
      <p:sp>
        <p:nvSpPr>
          <p:cNvPr id="162" name="Google Shape;162;p17"/>
          <p:cNvSpPr txBox="1"/>
          <p:nvPr/>
        </p:nvSpPr>
        <p:spPr>
          <a:xfrm>
            <a:off x="904875" y="628650"/>
            <a:ext cx="11051381"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850" u="none" cap="none" strike="noStrike">
                <a:solidFill>
                  <a:srgbClr val="0F172A"/>
                </a:solidFill>
                <a:latin typeface="Poppins SemiBold"/>
                <a:ea typeface="Poppins SemiBold"/>
                <a:cs typeface="Poppins SemiBold"/>
                <a:sym typeface="Poppins SemiBold"/>
              </a:rPr>
              <a:t>Tableau Dynamic Visualization</a:t>
            </a:r>
            <a:endParaRPr/>
          </a:p>
        </p:txBody>
      </p:sp>
      <p:sp>
        <p:nvSpPr>
          <p:cNvPr id="163" name="Google Shape;163;p17"/>
          <p:cNvSpPr/>
          <p:nvPr/>
        </p:nvSpPr>
        <p:spPr>
          <a:xfrm>
            <a:off x="762000" y="628650"/>
            <a:ext cx="47625" cy="43428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4" name="Google Shape;164;p17"/>
          <p:cNvPicPr preferRelativeResize="0"/>
          <p:nvPr/>
        </p:nvPicPr>
        <p:blipFill rotWithShape="1">
          <a:blip r:embed="rId7">
            <a:alphaModFix/>
          </a:blip>
          <a:srcRect b="0" l="0" r="0" t="0"/>
          <a:stretch/>
        </p:blipFill>
        <p:spPr>
          <a:xfrm>
            <a:off x="762000" y="2179290"/>
            <a:ext cx="133350" cy="152400"/>
          </a:xfrm>
          <a:prstGeom prst="rect">
            <a:avLst/>
          </a:prstGeom>
          <a:noFill/>
          <a:ln>
            <a:noFill/>
          </a:ln>
        </p:spPr>
      </p:pic>
      <p:pic>
        <p:nvPicPr>
          <p:cNvPr descr="image.png" id="165" name="Google Shape;165;p17"/>
          <p:cNvPicPr preferRelativeResize="0"/>
          <p:nvPr/>
        </p:nvPicPr>
        <p:blipFill rotWithShape="1">
          <a:blip r:embed="rId7">
            <a:alphaModFix/>
          </a:blip>
          <a:srcRect b="0" l="0" r="0" t="0"/>
          <a:stretch/>
        </p:blipFill>
        <p:spPr>
          <a:xfrm>
            <a:off x="762000" y="3055590"/>
            <a:ext cx="133350" cy="152400"/>
          </a:xfrm>
          <a:prstGeom prst="rect">
            <a:avLst/>
          </a:prstGeom>
          <a:noFill/>
          <a:ln>
            <a:noFill/>
          </a:ln>
        </p:spPr>
      </p:pic>
      <p:pic>
        <p:nvPicPr>
          <p:cNvPr descr="image.png" id="166" name="Google Shape;166;p17"/>
          <p:cNvPicPr preferRelativeResize="0"/>
          <p:nvPr/>
        </p:nvPicPr>
        <p:blipFill rotWithShape="1">
          <a:blip r:embed="rId7">
            <a:alphaModFix/>
          </a:blip>
          <a:srcRect b="0" l="0" r="0" t="0"/>
          <a:stretch/>
        </p:blipFill>
        <p:spPr>
          <a:xfrm>
            <a:off x="762000" y="3931890"/>
            <a:ext cx="133350" cy="152400"/>
          </a:xfrm>
          <a:prstGeom prst="rect">
            <a:avLst/>
          </a:prstGeom>
          <a:noFill/>
          <a:ln>
            <a:noFill/>
          </a:ln>
        </p:spPr>
      </p:pic>
      <p:pic>
        <p:nvPicPr>
          <p:cNvPr descr="image.png" id="167" name="Google Shape;167;p17"/>
          <p:cNvPicPr preferRelativeResize="0"/>
          <p:nvPr/>
        </p:nvPicPr>
        <p:blipFill rotWithShape="1">
          <a:blip r:embed="rId7">
            <a:alphaModFix/>
          </a:blip>
          <a:srcRect b="0" l="0" r="0" t="0"/>
          <a:stretch/>
        </p:blipFill>
        <p:spPr>
          <a:xfrm>
            <a:off x="762000" y="4808190"/>
            <a:ext cx="133350" cy="152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1" name="Shape 171"/>
        <p:cNvGrpSpPr/>
        <p:nvPr/>
      </p:nvGrpSpPr>
      <p:grpSpPr>
        <a:xfrm>
          <a:off x="0" y="0"/>
          <a:ext cx="0" cy="0"/>
          <a:chOff x="0" y="0"/>
          <a:chExt cx="0" cy="0"/>
        </a:xfrm>
      </p:grpSpPr>
      <p:pic>
        <p:nvPicPr>
          <p:cNvPr descr="image.png" id="172" name="Google Shape;172;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3" name="Google Shape;173;p18"/>
          <p:cNvPicPr preferRelativeResize="0"/>
          <p:nvPr/>
        </p:nvPicPr>
        <p:blipFill rotWithShape="1">
          <a:blip r:embed="rId4">
            <a:alphaModFix/>
          </a:blip>
          <a:srcRect b="0" l="0" r="0" t="0"/>
          <a:stretch/>
        </p:blipFill>
        <p:spPr>
          <a:xfrm>
            <a:off x="6062811" y="1817340"/>
            <a:ext cx="5367188" cy="4000500"/>
          </a:xfrm>
          <a:prstGeom prst="rect">
            <a:avLst/>
          </a:prstGeom>
          <a:noFill/>
          <a:ln>
            <a:noFill/>
          </a:ln>
        </p:spPr>
      </p:pic>
      <p:pic>
        <p:nvPicPr>
          <p:cNvPr descr="image.png" id="174" name="Google Shape;174;p18"/>
          <p:cNvPicPr preferRelativeResize="0"/>
          <p:nvPr/>
        </p:nvPicPr>
        <p:blipFill rotWithShape="1">
          <a:blip r:embed="rId5">
            <a:alphaModFix/>
          </a:blip>
          <a:srcRect b="0" l="0" r="0" t="0"/>
          <a:stretch/>
        </p:blipFill>
        <p:spPr>
          <a:xfrm>
            <a:off x="762000" y="571500"/>
            <a:ext cx="10668000" cy="57150"/>
          </a:xfrm>
          <a:prstGeom prst="rect">
            <a:avLst/>
          </a:prstGeom>
          <a:noFill/>
          <a:ln>
            <a:noFill/>
          </a:ln>
        </p:spPr>
      </p:pic>
      <p:sp>
        <p:nvSpPr>
          <p:cNvPr id="175" name="Google Shape;175;p18"/>
          <p:cNvSpPr txBox="1"/>
          <p:nvPr/>
        </p:nvSpPr>
        <p:spPr>
          <a:xfrm>
            <a:off x="1095375" y="2598390"/>
            <a:ext cx="4586436" cy="68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Verifying the Data:</a:t>
            </a:r>
            <a:r>
              <a:rPr b="0" i="0" lang="en-US" sz="1200" u="none" cap="none" strike="noStrike">
                <a:solidFill>
                  <a:srgbClr val="475569"/>
                </a:solidFill>
                <a:latin typeface="Lato"/>
                <a:ea typeface="Lato"/>
                <a:cs typeface="Lato"/>
                <a:sym typeface="Lato"/>
              </a:rPr>
              <a:t> Used SQL code to make sure all 50,000 employee records were loaded correctly without any missing pieces or duplicates.</a:t>
            </a:r>
            <a:endParaRPr/>
          </a:p>
        </p:txBody>
      </p:sp>
      <p:sp>
        <p:nvSpPr>
          <p:cNvPr id="176" name="Google Shape;176;p18"/>
          <p:cNvSpPr txBox="1"/>
          <p:nvPr/>
        </p:nvSpPr>
        <p:spPr>
          <a:xfrm>
            <a:off x="1095375" y="3474690"/>
            <a:ext cx="4586436" cy="68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Double-Checking Calculations:</a:t>
            </a:r>
            <a:r>
              <a:rPr b="0" i="0" lang="en-US" sz="1200" u="none" cap="none" strike="noStrike">
                <a:solidFill>
                  <a:srgbClr val="475569"/>
                </a:solidFill>
                <a:latin typeface="Lato"/>
                <a:ea typeface="Lato"/>
                <a:cs typeface="Lato"/>
                <a:sym typeface="Lato"/>
              </a:rPr>
              <a:t> Ran separate background checks to prove that our 50.21% turnover rate was perfectly accurate across all tools.</a:t>
            </a:r>
            <a:endParaRPr/>
          </a:p>
        </p:txBody>
      </p:sp>
      <p:sp>
        <p:nvSpPr>
          <p:cNvPr id="177" name="Google Shape;177;p18"/>
          <p:cNvSpPr txBox="1"/>
          <p:nvPr/>
        </p:nvSpPr>
        <p:spPr>
          <a:xfrm>
            <a:off x="1095375" y="4350990"/>
            <a:ext cx="4586436" cy="68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Handling Big Datasets:</a:t>
            </a:r>
            <a:r>
              <a:rPr b="0" i="0" lang="en-US" sz="1200" u="none" cap="none" strike="noStrike">
                <a:solidFill>
                  <a:srgbClr val="475569"/>
                </a:solidFill>
                <a:latin typeface="Lato"/>
                <a:ea typeface="Lato"/>
                <a:cs typeface="Lato"/>
                <a:sym typeface="Lato"/>
              </a:rPr>
              <a:t> Allowed us to quickly search, filter, and group massive amounts of information without slowing down our computers.</a:t>
            </a:r>
            <a:endParaRPr/>
          </a:p>
        </p:txBody>
      </p:sp>
      <p:pic>
        <p:nvPicPr>
          <p:cNvPr id="178" name="Google Shape;178;p18" title="Screenshot 2026-06-02 204228.png"/>
          <p:cNvPicPr preferRelativeResize="0"/>
          <p:nvPr/>
        </p:nvPicPr>
        <p:blipFill rotWithShape="1">
          <a:blip r:embed="rId6">
            <a:alphaModFix/>
          </a:blip>
          <a:srcRect b="2190" l="0" r="28459" t="-2190"/>
          <a:stretch/>
        </p:blipFill>
        <p:spPr>
          <a:xfrm>
            <a:off x="6072336" y="1826865"/>
            <a:ext cx="5348138" cy="3981451"/>
          </a:xfrm>
          <a:prstGeom prst="rect">
            <a:avLst/>
          </a:prstGeom>
          <a:noFill/>
          <a:ln>
            <a:noFill/>
          </a:ln>
        </p:spPr>
      </p:pic>
      <p:sp>
        <p:nvSpPr>
          <p:cNvPr id="179" name="Google Shape;179;p18"/>
          <p:cNvSpPr txBox="1"/>
          <p:nvPr/>
        </p:nvSpPr>
        <p:spPr>
          <a:xfrm>
            <a:off x="904875" y="628650"/>
            <a:ext cx="11051381"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850" u="none" cap="none" strike="noStrike">
                <a:solidFill>
                  <a:srgbClr val="0F172A"/>
                </a:solidFill>
                <a:latin typeface="Poppins SemiBold"/>
                <a:ea typeface="Poppins SemiBold"/>
                <a:cs typeface="Poppins SemiBold"/>
                <a:sym typeface="Poppins SemiBold"/>
              </a:rPr>
              <a:t>SQL Backend Schema Validation</a:t>
            </a:r>
            <a:endParaRPr/>
          </a:p>
        </p:txBody>
      </p:sp>
      <p:sp>
        <p:nvSpPr>
          <p:cNvPr id="180" name="Google Shape;180;p18"/>
          <p:cNvSpPr/>
          <p:nvPr/>
        </p:nvSpPr>
        <p:spPr>
          <a:xfrm>
            <a:off x="762000" y="628650"/>
            <a:ext cx="47625" cy="43428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81" name="Google Shape;181;p18"/>
          <p:cNvPicPr preferRelativeResize="0"/>
          <p:nvPr/>
        </p:nvPicPr>
        <p:blipFill rotWithShape="1">
          <a:blip r:embed="rId7">
            <a:alphaModFix/>
          </a:blip>
          <a:srcRect b="0" l="0" r="0" t="0"/>
          <a:stretch/>
        </p:blipFill>
        <p:spPr>
          <a:xfrm>
            <a:off x="762000" y="2617440"/>
            <a:ext cx="133350" cy="152400"/>
          </a:xfrm>
          <a:prstGeom prst="rect">
            <a:avLst/>
          </a:prstGeom>
          <a:noFill/>
          <a:ln>
            <a:noFill/>
          </a:ln>
        </p:spPr>
      </p:pic>
      <p:pic>
        <p:nvPicPr>
          <p:cNvPr descr="image.png" id="182" name="Google Shape;182;p18"/>
          <p:cNvPicPr preferRelativeResize="0"/>
          <p:nvPr/>
        </p:nvPicPr>
        <p:blipFill rotWithShape="1">
          <a:blip r:embed="rId7">
            <a:alphaModFix/>
          </a:blip>
          <a:srcRect b="0" l="0" r="0" t="0"/>
          <a:stretch/>
        </p:blipFill>
        <p:spPr>
          <a:xfrm>
            <a:off x="762000" y="3493740"/>
            <a:ext cx="133350" cy="152400"/>
          </a:xfrm>
          <a:prstGeom prst="rect">
            <a:avLst/>
          </a:prstGeom>
          <a:noFill/>
          <a:ln>
            <a:noFill/>
          </a:ln>
        </p:spPr>
      </p:pic>
      <p:pic>
        <p:nvPicPr>
          <p:cNvPr descr="image.png" id="183" name="Google Shape;183;p18"/>
          <p:cNvPicPr preferRelativeResize="0"/>
          <p:nvPr/>
        </p:nvPicPr>
        <p:blipFill rotWithShape="1">
          <a:blip r:embed="rId7">
            <a:alphaModFix/>
          </a:blip>
          <a:srcRect b="0" l="0" r="0" t="0"/>
          <a:stretch/>
        </p:blipFill>
        <p:spPr>
          <a:xfrm>
            <a:off x="762000" y="4370040"/>
            <a:ext cx="133350" cy="152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87" name="Shape 187"/>
        <p:cNvGrpSpPr/>
        <p:nvPr/>
      </p:nvGrpSpPr>
      <p:grpSpPr>
        <a:xfrm>
          <a:off x="0" y="0"/>
          <a:ext cx="0" cy="0"/>
          <a:chOff x="0" y="0"/>
          <a:chExt cx="0" cy="0"/>
        </a:xfrm>
      </p:grpSpPr>
      <p:pic>
        <p:nvPicPr>
          <p:cNvPr descr="image.png" id="188" name="Google Shape;188;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9" name="Google Shape;189;p19"/>
          <p:cNvPicPr preferRelativeResize="0"/>
          <p:nvPr/>
        </p:nvPicPr>
        <p:blipFill rotWithShape="1">
          <a:blip r:embed="rId4">
            <a:alphaModFix/>
          </a:blip>
          <a:srcRect b="0" l="0" r="0" t="0"/>
          <a:stretch/>
        </p:blipFill>
        <p:spPr>
          <a:xfrm>
            <a:off x="762000" y="571500"/>
            <a:ext cx="10668000" cy="57150"/>
          </a:xfrm>
          <a:prstGeom prst="rect">
            <a:avLst/>
          </a:prstGeom>
          <a:noFill/>
          <a:ln>
            <a:noFill/>
          </a:ln>
        </p:spPr>
      </p:pic>
      <p:sp>
        <p:nvSpPr>
          <p:cNvPr id="190" name="Google Shape;190;p19"/>
          <p:cNvSpPr txBox="1"/>
          <p:nvPr/>
        </p:nvSpPr>
        <p:spPr>
          <a:xfrm>
            <a:off x="762000" y="1537245"/>
            <a:ext cx="44727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D9488"/>
                </a:solidFill>
                <a:latin typeface="Lato"/>
                <a:ea typeface="Lato"/>
                <a:cs typeface="Lato"/>
                <a:sym typeface="Lato"/>
              </a:rPr>
              <a:t>EXECUTIVE INSIGHTS</a:t>
            </a:r>
            <a:endParaRPr/>
          </a:p>
        </p:txBody>
      </p:sp>
      <p:sp>
        <p:nvSpPr>
          <p:cNvPr id="191" name="Google Shape;191;p19"/>
          <p:cNvSpPr txBox="1"/>
          <p:nvPr/>
        </p:nvSpPr>
        <p:spPr>
          <a:xfrm>
            <a:off x="762000" y="1813470"/>
            <a:ext cx="4696200" cy="300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1950" u="none" cap="none" strike="noStrike">
                <a:solidFill>
                  <a:srgbClr val="0F172A"/>
                </a:solidFill>
                <a:latin typeface="Poppins"/>
                <a:ea typeface="Poppins"/>
                <a:cs typeface="Poppins"/>
                <a:sym typeface="Poppins"/>
              </a:rPr>
              <a:t>The Story Told by the Numbers</a:t>
            </a:r>
            <a:endParaRPr/>
          </a:p>
        </p:txBody>
      </p:sp>
      <p:sp>
        <p:nvSpPr>
          <p:cNvPr id="192" name="Google Shape;192;p19"/>
          <p:cNvSpPr txBox="1"/>
          <p:nvPr/>
        </p:nvSpPr>
        <p:spPr>
          <a:xfrm>
            <a:off x="762000" y="2325885"/>
            <a:ext cx="44727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475569"/>
                </a:solidFill>
                <a:latin typeface="Lato"/>
                <a:ea typeface="Lato"/>
                <a:cs typeface="Lato"/>
                <a:sym typeface="Lato"/>
              </a:rPr>
              <a:t>Our multi-platform analysis across all analytical tools centered on establishing a single source of truth. Looking at these 7 critical baseline metrics, we uncover a profound narrative of our workforce dynamics:</a:t>
            </a:r>
            <a:endParaRPr/>
          </a:p>
        </p:txBody>
      </p:sp>
      <p:pic>
        <p:nvPicPr>
          <p:cNvPr descr="image.png" id="193" name="Google Shape;193;p19"/>
          <p:cNvPicPr preferRelativeResize="0"/>
          <p:nvPr/>
        </p:nvPicPr>
        <p:blipFill rotWithShape="1">
          <a:blip r:embed="rId5">
            <a:alphaModFix/>
          </a:blip>
          <a:srcRect b="0" l="0" r="0" t="0"/>
          <a:stretch/>
        </p:blipFill>
        <p:spPr>
          <a:xfrm>
            <a:off x="5615582" y="2466082"/>
            <a:ext cx="5814417" cy="851445"/>
          </a:xfrm>
          <a:prstGeom prst="rect">
            <a:avLst/>
          </a:prstGeom>
          <a:noFill/>
          <a:ln>
            <a:noFill/>
          </a:ln>
        </p:spPr>
      </p:pic>
      <p:pic>
        <p:nvPicPr>
          <p:cNvPr descr="image.png" id="194" name="Google Shape;194;p19"/>
          <p:cNvPicPr preferRelativeResize="0"/>
          <p:nvPr/>
        </p:nvPicPr>
        <p:blipFill rotWithShape="1">
          <a:blip r:embed="rId6">
            <a:alphaModFix/>
          </a:blip>
          <a:srcRect b="0" l="0" r="0" t="0"/>
          <a:stretch/>
        </p:blipFill>
        <p:spPr>
          <a:xfrm>
            <a:off x="5615582" y="3460402"/>
            <a:ext cx="1842789" cy="782835"/>
          </a:xfrm>
          <a:prstGeom prst="rect">
            <a:avLst/>
          </a:prstGeom>
          <a:noFill/>
          <a:ln>
            <a:noFill/>
          </a:ln>
        </p:spPr>
      </p:pic>
      <p:pic>
        <p:nvPicPr>
          <p:cNvPr descr="image.png" id="195" name="Google Shape;195;p19"/>
          <p:cNvPicPr preferRelativeResize="0"/>
          <p:nvPr/>
        </p:nvPicPr>
        <p:blipFill rotWithShape="1">
          <a:blip r:embed="rId7">
            <a:alphaModFix/>
          </a:blip>
          <a:srcRect b="0" l="0" r="0" t="0"/>
          <a:stretch/>
        </p:blipFill>
        <p:spPr>
          <a:xfrm>
            <a:off x="7601247" y="3460402"/>
            <a:ext cx="1842938" cy="782835"/>
          </a:xfrm>
          <a:prstGeom prst="rect">
            <a:avLst/>
          </a:prstGeom>
          <a:noFill/>
          <a:ln>
            <a:noFill/>
          </a:ln>
        </p:spPr>
      </p:pic>
      <p:pic>
        <p:nvPicPr>
          <p:cNvPr descr="image.png" id="196" name="Google Shape;196;p19"/>
          <p:cNvPicPr preferRelativeResize="0"/>
          <p:nvPr/>
        </p:nvPicPr>
        <p:blipFill rotWithShape="1">
          <a:blip r:embed="rId8">
            <a:alphaModFix/>
          </a:blip>
          <a:srcRect b="0" l="0" r="0" t="0"/>
          <a:stretch/>
        </p:blipFill>
        <p:spPr>
          <a:xfrm>
            <a:off x="9587061" y="3460402"/>
            <a:ext cx="1842938" cy="782835"/>
          </a:xfrm>
          <a:prstGeom prst="rect">
            <a:avLst/>
          </a:prstGeom>
          <a:noFill/>
          <a:ln>
            <a:noFill/>
          </a:ln>
        </p:spPr>
      </p:pic>
      <p:pic>
        <p:nvPicPr>
          <p:cNvPr descr="image.png" id="197" name="Google Shape;197;p19"/>
          <p:cNvPicPr preferRelativeResize="0"/>
          <p:nvPr/>
        </p:nvPicPr>
        <p:blipFill rotWithShape="1">
          <a:blip r:embed="rId9">
            <a:alphaModFix/>
          </a:blip>
          <a:srcRect b="0" l="0" r="0" t="0"/>
          <a:stretch/>
        </p:blipFill>
        <p:spPr>
          <a:xfrm>
            <a:off x="5615582" y="4386113"/>
            <a:ext cx="1842789" cy="782835"/>
          </a:xfrm>
          <a:prstGeom prst="rect">
            <a:avLst/>
          </a:prstGeom>
          <a:noFill/>
          <a:ln>
            <a:noFill/>
          </a:ln>
        </p:spPr>
      </p:pic>
      <p:pic>
        <p:nvPicPr>
          <p:cNvPr descr="image.png" id="198" name="Google Shape;198;p19"/>
          <p:cNvPicPr preferRelativeResize="0"/>
          <p:nvPr/>
        </p:nvPicPr>
        <p:blipFill rotWithShape="1">
          <a:blip r:embed="rId10">
            <a:alphaModFix/>
          </a:blip>
          <a:srcRect b="0" l="0" r="0" t="0"/>
          <a:stretch/>
        </p:blipFill>
        <p:spPr>
          <a:xfrm>
            <a:off x="7601247" y="4386113"/>
            <a:ext cx="1842938" cy="782835"/>
          </a:xfrm>
          <a:prstGeom prst="rect">
            <a:avLst/>
          </a:prstGeom>
          <a:noFill/>
          <a:ln>
            <a:noFill/>
          </a:ln>
        </p:spPr>
      </p:pic>
      <p:pic>
        <p:nvPicPr>
          <p:cNvPr descr="image.png" id="199" name="Google Shape;199;p19"/>
          <p:cNvPicPr preferRelativeResize="0"/>
          <p:nvPr/>
        </p:nvPicPr>
        <p:blipFill rotWithShape="1">
          <a:blip r:embed="rId11">
            <a:alphaModFix/>
          </a:blip>
          <a:srcRect b="0" l="0" r="0" t="0"/>
          <a:stretch/>
        </p:blipFill>
        <p:spPr>
          <a:xfrm>
            <a:off x="9587061" y="4386113"/>
            <a:ext cx="1842938" cy="782835"/>
          </a:xfrm>
          <a:prstGeom prst="rect">
            <a:avLst/>
          </a:prstGeom>
          <a:noFill/>
          <a:ln>
            <a:noFill/>
          </a:ln>
        </p:spPr>
      </p:pic>
      <p:sp>
        <p:nvSpPr>
          <p:cNvPr id="200" name="Google Shape;200;p19"/>
          <p:cNvSpPr txBox="1"/>
          <p:nvPr/>
        </p:nvSpPr>
        <p:spPr>
          <a:xfrm>
            <a:off x="1095375" y="3430785"/>
            <a:ext cx="41391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A Staggering Retention Challenge:</a:t>
            </a:r>
            <a:r>
              <a:rPr b="0" i="0" lang="en-US" sz="1200" u="none" cap="none" strike="noStrike">
                <a:solidFill>
                  <a:srgbClr val="475569"/>
                </a:solidFill>
                <a:latin typeface="Lato"/>
                <a:ea typeface="Lato"/>
                <a:cs typeface="Lato"/>
                <a:sym typeface="Lato"/>
              </a:rPr>
              <a:t> Over half of our historic 50k employee pool, specifically </a:t>
            </a:r>
            <a:r>
              <a:rPr b="1" i="0" lang="en-US" sz="1200" u="none" cap="none" strike="noStrike">
                <a:solidFill>
                  <a:srgbClr val="0F172A"/>
                </a:solidFill>
                <a:latin typeface="Lato"/>
                <a:ea typeface="Lato"/>
                <a:cs typeface="Lato"/>
                <a:sym typeface="Lato"/>
              </a:rPr>
              <a:t>25,105 exits (50.21% Attrition)</a:t>
            </a:r>
            <a:r>
              <a:rPr b="0" i="0" lang="en-US" sz="1200" u="none" cap="none" strike="noStrike">
                <a:solidFill>
                  <a:srgbClr val="475569"/>
                </a:solidFill>
                <a:latin typeface="Lato"/>
                <a:ea typeface="Lato"/>
                <a:cs typeface="Lato"/>
                <a:sym typeface="Lato"/>
              </a:rPr>
              <a:t>, has departed, exposing structural issues requiring vital strategic adjustments.</a:t>
            </a:r>
            <a:endParaRPr/>
          </a:p>
        </p:txBody>
      </p:sp>
      <p:sp>
        <p:nvSpPr>
          <p:cNvPr id="201" name="Google Shape;201;p19"/>
          <p:cNvSpPr txBox="1"/>
          <p:nvPr/>
        </p:nvSpPr>
        <p:spPr>
          <a:xfrm>
            <a:off x="1095375" y="4535685"/>
            <a:ext cx="41391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Deep Loss of Experienced Talent:</a:t>
            </a:r>
            <a:r>
              <a:rPr b="0" i="0" lang="en-US" sz="1200" u="none" cap="none" strike="noStrike">
                <a:solidFill>
                  <a:srgbClr val="475569"/>
                </a:solidFill>
                <a:latin typeface="Lato"/>
                <a:ea typeface="Lato"/>
                <a:cs typeface="Lato"/>
                <a:sym typeface="Lato"/>
              </a:rPr>
              <a:t> With an </a:t>
            </a:r>
            <a:r>
              <a:rPr b="1" i="0" lang="en-US" sz="1200" u="none" cap="none" strike="noStrike">
                <a:solidFill>
                  <a:srgbClr val="0F172A"/>
                </a:solidFill>
                <a:latin typeface="Lato"/>
                <a:ea typeface="Lato"/>
                <a:cs typeface="Lato"/>
                <a:sym typeface="Lato"/>
              </a:rPr>
              <a:t>Average Age of 39</a:t>
            </a:r>
            <a:r>
              <a:rPr b="0" i="0" lang="en-US" sz="1200" u="none" cap="none" strike="noStrike">
                <a:solidFill>
                  <a:srgbClr val="475569"/>
                </a:solidFill>
                <a:latin typeface="Lato"/>
                <a:ea typeface="Lato"/>
                <a:cs typeface="Lato"/>
                <a:sym typeface="Lato"/>
              </a:rPr>
              <a:t> and a strong </a:t>
            </a:r>
            <a:r>
              <a:rPr b="1" i="0" lang="en-US" sz="1200" u="none" cap="none" strike="noStrike">
                <a:solidFill>
                  <a:srgbClr val="0F172A"/>
                </a:solidFill>
                <a:latin typeface="Lato"/>
                <a:ea typeface="Lato"/>
                <a:cs typeface="Lato"/>
                <a:sym typeface="Lato"/>
              </a:rPr>
              <a:t>Average Tenure of 10.8 Years</a:t>
            </a:r>
            <a:r>
              <a:rPr b="0" i="0" lang="en-US" sz="1200" u="none" cap="none" strike="noStrike">
                <a:solidFill>
                  <a:srgbClr val="475569"/>
                </a:solidFill>
                <a:latin typeface="Lato"/>
                <a:ea typeface="Lato"/>
                <a:cs typeface="Lato"/>
                <a:sym typeface="Lato"/>
              </a:rPr>
              <a:t>, the exits are heavily impacting seasoned veterans and institutional memory.</a:t>
            </a:r>
            <a:endParaRPr/>
          </a:p>
        </p:txBody>
      </p:sp>
      <p:sp>
        <p:nvSpPr>
          <p:cNvPr id="202" name="Google Shape;202;p19"/>
          <p:cNvSpPr txBox="1"/>
          <p:nvPr/>
        </p:nvSpPr>
        <p:spPr>
          <a:xfrm>
            <a:off x="1095375" y="5585972"/>
            <a:ext cx="4139100" cy="738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0F172A"/>
                </a:solidFill>
                <a:latin typeface="Lato"/>
                <a:ea typeface="Lato"/>
                <a:cs typeface="Lato"/>
                <a:sym typeface="Lato"/>
              </a:rPr>
              <a:t>High Cost-to-Business Exposure:</a:t>
            </a:r>
            <a:r>
              <a:rPr b="0" i="0" lang="en-US" sz="1200" u="none" cap="none" strike="noStrike">
                <a:solidFill>
                  <a:srgbClr val="475569"/>
                </a:solidFill>
                <a:latin typeface="Lato"/>
                <a:ea typeface="Lato"/>
                <a:cs typeface="Lato"/>
                <a:sym typeface="Lato"/>
              </a:rPr>
              <a:t> Managing an average payroll exposure of </a:t>
            </a:r>
            <a:r>
              <a:rPr b="1" i="0" lang="en-US" sz="1200" u="none" cap="none" strike="noStrike">
                <a:solidFill>
                  <a:srgbClr val="0F172A"/>
                </a:solidFill>
                <a:latin typeface="Lato"/>
                <a:ea typeface="Lato"/>
                <a:cs typeface="Lato"/>
                <a:sym typeface="Lato"/>
              </a:rPr>
              <a:t>$26k</a:t>
            </a:r>
            <a:r>
              <a:rPr b="0" i="0" lang="en-US" sz="1200" u="none" cap="none" strike="noStrike">
                <a:solidFill>
                  <a:srgbClr val="475569"/>
                </a:solidFill>
                <a:latin typeface="Lato"/>
                <a:ea typeface="Lato"/>
                <a:cs typeface="Lato"/>
                <a:sym typeface="Lato"/>
              </a:rPr>
              <a:t> per departed head multiplies recruiting, training, and lost-productivity costs exponentially.</a:t>
            </a:r>
            <a:endParaRPr/>
          </a:p>
        </p:txBody>
      </p:sp>
      <p:pic>
        <p:nvPicPr>
          <p:cNvPr descr="image.png" id="203" name="Google Shape;203;p19"/>
          <p:cNvPicPr preferRelativeResize="0"/>
          <p:nvPr/>
        </p:nvPicPr>
        <p:blipFill rotWithShape="1">
          <a:blip r:embed="rId12">
            <a:alphaModFix/>
          </a:blip>
          <a:srcRect b="0" l="0" r="0" t="0"/>
          <a:stretch/>
        </p:blipFill>
        <p:spPr>
          <a:xfrm>
            <a:off x="11058525" y="2618482"/>
            <a:ext cx="219075" cy="171450"/>
          </a:xfrm>
          <a:prstGeom prst="rect">
            <a:avLst/>
          </a:prstGeom>
          <a:noFill/>
          <a:ln>
            <a:noFill/>
          </a:ln>
        </p:spPr>
      </p:pic>
      <p:sp>
        <p:nvSpPr>
          <p:cNvPr id="204" name="Google Shape;204;p19"/>
          <p:cNvSpPr txBox="1"/>
          <p:nvPr/>
        </p:nvSpPr>
        <p:spPr>
          <a:xfrm>
            <a:off x="5815607" y="2628007"/>
            <a:ext cx="15906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475569"/>
                </a:solidFill>
                <a:latin typeface="Lato"/>
                <a:ea typeface="Lato"/>
                <a:cs typeface="Lato"/>
                <a:sym typeface="Lato"/>
              </a:rPr>
              <a:t>TOTAL EMPLOYEE DATASET</a:t>
            </a:r>
            <a:endParaRPr/>
          </a:p>
        </p:txBody>
      </p:sp>
      <p:sp>
        <p:nvSpPr>
          <p:cNvPr id="205" name="Google Shape;205;p19"/>
          <p:cNvSpPr txBox="1"/>
          <p:nvPr/>
        </p:nvSpPr>
        <p:spPr>
          <a:xfrm>
            <a:off x="5815598" y="2789925"/>
            <a:ext cx="3014400" cy="3693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0D9488"/>
                </a:solidFill>
                <a:latin typeface="Poppins"/>
                <a:ea typeface="Poppins"/>
                <a:cs typeface="Poppins"/>
                <a:sym typeface="Poppins"/>
              </a:rPr>
              <a:t>50,000 Records</a:t>
            </a:r>
            <a:endParaRPr/>
          </a:p>
        </p:txBody>
      </p:sp>
      <p:pic>
        <p:nvPicPr>
          <p:cNvPr descr="image.png" id="206" name="Google Shape;206;p19"/>
          <p:cNvPicPr preferRelativeResize="0"/>
          <p:nvPr/>
        </p:nvPicPr>
        <p:blipFill rotWithShape="1">
          <a:blip r:embed="rId13">
            <a:alphaModFix/>
          </a:blip>
          <a:srcRect b="0" l="0" r="0" t="0"/>
          <a:stretch/>
        </p:blipFill>
        <p:spPr>
          <a:xfrm>
            <a:off x="7086897" y="3612802"/>
            <a:ext cx="219075" cy="171450"/>
          </a:xfrm>
          <a:prstGeom prst="rect">
            <a:avLst/>
          </a:prstGeom>
          <a:noFill/>
          <a:ln>
            <a:noFill/>
          </a:ln>
        </p:spPr>
      </p:pic>
      <p:sp>
        <p:nvSpPr>
          <p:cNvPr id="207" name="Google Shape;207;p19"/>
          <p:cNvSpPr txBox="1"/>
          <p:nvPr/>
        </p:nvSpPr>
        <p:spPr>
          <a:xfrm>
            <a:off x="5815607" y="3622327"/>
            <a:ext cx="11526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475569"/>
                </a:solidFill>
                <a:latin typeface="Lato"/>
                <a:ea typeface="Lato"/>
                <a:cs typeface="Lato"/>
                <a:sym typeface="Lato"/>
              </a:rPr>
              <a:t>EXITED (ATTRITION)</a:t>
            </a:r>
            <a:endParaRPr/>
          </a:p>
        </p:txBody>
      </p:sp>
      <p:sp>
        <p:nvSpPr>
          <p:cNvPr id="208" name="Google Shape;208;p19"/>
          <p:cNvSpPr txBox="1"/>
          <p:nvPr/>
        </p:nvSpPr>
        <p:spPr>
          <a:xfrm>
            <a:off x="5815597" y="3784250"/>
            <a:ext cx="1095300" cy="300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950" u="none" cap="none" strike="noStrike">
                <a:solidFill>
                  <a:srgbClr val="0F172A"/>
                </a:solidFill>
                <a:latin typeface="Poppins"/>
                <a:ea typeface="Poppins"/>
                <a:cs typeface="Poppins"/>
                <a:sym typeface="Poppins"/>
              </a:rPr>
              <a:t>25,105</a:t>
            </a:r>
            <a:endParaRPr/>
          </a:p>
        </p:txBody>
      </p:sp>
      <p:pic>
        <p:nvPicPr>
          <p:cNvPr descr="image.png" id="209" name="Google Shape;209;p19"/>
          <p:cNvPicPr preferRelativeResize="0"/>
          <p:nvPr/>
        </p:nvPicPr>
        <p:blipFill rotWithShape="1">
          <a:blip r:embed="rId14">
            <a:alphaModFix/>
          </a:blip>
          <a:srcRect b="0" l="0" r="0" t="0"/>
          <a:stretch/>
        </p:blipFill>
        <p:spPr>
          <a:xfrm>
            <a:off x="9072711" y="3612802"/>
            <a:ext cx="219075" cy="171450"/>
          </a:xfrm>
          <a:prstGeom prst="rect">
            <a:avLst/>
          </a:prstGeom>
          <a:noFill/>
          <a:ln>
            <a:noFill/>
          </a:ln>
        </p:spPr>
      </p:pic>
      <p:sp>
        <p:nvSpPr>
          <p:cNvPr id="210" name="Google Shape;210;p19"/>
          <p:cNvSpPr txBox="1"/>
          <p:nvPr/>
        </p:nvSpPr>
        <p:spPr>
          <a:xfrm>
            <a:off x="7801272" y="3622327"/>
            <a:ext cx="8097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475569"/>
                </a:solidFill>
                <a:latin typeface="Lato"/>
                <a:ea typeface="Lato"/>
                <a:cs typeface="Lato"/>
                <a:sym typeface="Lato"/>
              </a:rPr>
              <a:t>ACTIVE STAFF</a:t>
            </a:r>
            <a:endParaRPr/>
          </a:p>
        </p:txBody>
      </p:sp>
      <p:sp>
        <p:nvSpPr>
          <p:cNvPr id="211" name="Google Shape;211;p19"/>
          <p:cNvSpPr txBox="1"/>
          <p:nvPr/>
        </p:nvSpPr>
        <p:spPr>
          <a:xfrm>
            <a:off x="7801276" y="3784250"/>
            <a:ext cx="1152600" cy="300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950" u="none" cap="none" strike="noStrike">
                <a:solidFill>
                  <a:srgbClr val="0F172A"/>
                </a:solidFill>
                <a:latin typeface="Poppins"/>
                <a:ea typeface="Poppins"/>
                <a:cs typeface="Poppins"/>
                <a:sym typeface="Poppins"/>
              </a:rPr>
              <a:t>24,895</a:t>
            </a:r>
            <a:endParaRPr/>
          </a:p>
        </p:txBody>
      </p:sp>
      <p:pic>
        <p:nvPicPr>
          <p:cNvPr descr="image.png" id="212" name="Google Shape;212;p19"/>
          <p:cNvPicPr preferRelativeResize="0"/>
          <p:nvPr/>
        </p:nvPicPr>
        <p:blipFill rotWithShape="1">
          <a:blip r:embed="rId15">
            <a:alphaModFix/>
          </a:blip>
          <a:srcRect b="0" l="0" r="0" t="0"/>
          <a:stretch/>
        </p:blipFill>
        <p:spPr>
          <a:xfrm>
            <a:off x="11087100" y="3612802"/>
            <a:ext cx="190500" cy="171450"/>
          </a:xfrm>
          <a:prstGeom prst="rect">
            <a:avLst/>
          </a:prstGeom>
          <a:noFill/>
          <a:ln>
            <a:noFill/>
          </a:ln>
        </p:spPr>
      </p:pic>
      <p:sp>
        <p:nvSpPr>
          <p:cNvPr id="213" name="Google Shape;213;p19"/>
          <p:cNvSpPr txBox="1"/>
          <p:nvPr/>
        </p:nvSpPr>
        <p:spPr>
          <a:xfrm>
            <a:off x="9787086" y="3622327"/>
            <a:ext cx="9621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475569"/>
                </a:solidFill>
                <a:latin typeface="Lato"/>
                <a:ea typeface="Lato"/>
                <a:cs typeface="Lato"/>
                <a:sym typeface="Lato"/>
              </a:rPr>
              <a:t>ATTRITION RATE</a:t>
            </a:r>
            <a:endParaRPr/>
          </a:p>
        </p:txBody>
      </p:sp>
      <p:sp>
        <p:nvSpPr>
          <p:cNvPr id="214" name="Google Shape;214;p19"/>
          <p:cNvSpPr txBox="1"/>
          <p:nvPr/>
        </p:nvSpPr>
        <p:spPr>
          <a:xfrm>
            <a:off x="9787071" y="3784250"/>
            <a:ext cx="1152600" cy="300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950" u="none" cap="none" strike="noStrike">
                <a:solidFill>
                  <a:srgbClr val="0F172A"/>
                </a:solidFill>
                <a:latin typeface="Poppins"/>
                <a:ea typeface="Poppins"/>
                <a:cs typeface="Poppins"/>
                <a:sym typeface="Poppins"/>
              </a:rPr>
              <a:t>50.21%</a:t>
            </a:r>
            <a:endParaRPr/>
          </a:p>
        </p:txBody>
      </p:sp>
      <p:pic>
        <p:nvPicPr>
          <p:cNvPr descr="image.png" id="215" name="Google Shape;215;p19"/>
          <p:cNvPicPr preferRelativeResize="0"/>
          <p:nvPr/>
        </p:nvPicPr>
        <p:blipFill rotWithShape="1">
          <a:blip r:embed="rId16">
            <a:alphaModFix/>
          </a:blip>
          <a:srcRect b="0" l="0" r="0" t="0"/>
          <a:stretch/>
        </p:blipFill>
        <p:spPr>
          <a:xfrm>
            <a:off x="7153572" y="4538513"/>
            <a:ext cx="152400" cy="171450"/>
          </a:xfrm>
          <a:prstGeom prst="rect">
            <a:avLst/>
          </a:prstGeom>
          <a:noFill/>
          <a:ln>
            <a:noFill/>
          </a:ln>
        </p:spPr>
      </p:pic>
      <p:sp>
        <p:nvSpPr>
          <p:cNvPr id="216" name="Google Shape;216;p19"/>
          <p:cNvSpPr txBox="1"/>
          <p:nvPr/>
        </p:nvSpPr>
        <p:spPr>
          <a:xfrm>
            <a:off x="5815607" y="4548038"/>
            <a:ext cx="8097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475569"/>
                </a:solidFill>
                <a:latin typeface="Lato"/>
                <a:ea typeface="Lato"/>
                <a:cs typeface="Lato"/>
                <a:sym typeface="Lato"/>
              </a:rPr>
              <a:t>AVERAGE AGE</a:t>
            </a:r>
            <a:endParaRPr/>
          </a:p>
        </p:txBody>
      </p:sp>
      <p:sp>
        <p:nvSpPr>
          <p:cNvPr id="217" name="Google Shape;217;p19"/>
          <p:cNvSpPr txBox="1"/>
          <p:nvPr/>
        </p:nvSpPr>
        <p:spPr>
          <a:xfrm>
            <a:off x="5815607" y="4709963"/>
            <a:ext cx="1095300" cy="300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950" u="none" cap="none" strike="noStrike">
                <a:solidFill>
                  <a:srgbClr val="0F172A"/>
                </a:solidFill>
                <a:latin typeface="Poppins"/>
                <a:ea typeface="Poppins"/>
                <a:cs typeface="Poppins"/>
                <a:sym typeface="Poppins"/>
              </a:rPr>
              <a:t>39 Years</a:t>
            </a:r>
            <a:endParaRPr/>
          </a:p>
        </p:txBody>
      </p:sp>
      <p:pic>
        <p:nvPicPr>
          <p:cNvPr descr="image.png" id="218" name="Google Shape;218;p19"/>
          <p:cNvPicPr preferRelativeResize="0"/>
          <p:nvPr/>
        </p:nvPicPr>
        <p:blipFill rotWithShape="1">
          <a:blip r:embed="rId17">
            <a:alphaModFix/>
          </a:blip>
          <a:srcRect b="0" l="0" r="0" t="0"/>
          <a:stretch/>
        </p:blipFill>
        <p:spPr>
          <a:xfrm>
            <a:off x="9120336" y="4538513"/>
            <a:ext cx="171450" cy="171450"/>
          </a:xfrm>
          <a:prstGeom prst="rect">
            <a:avLst/>
          </a:prstGeom>
          <a:noFill/>
          <a:ln>
            <a:noFill/>
          </a:ln>
        </p:spPr>
      </p:pic>
      <p:sp>
        <p:nvSpPr>
          <p:cNvPr id="219" name="Google Shape;219;p19"/>
          <p:cNvSpPr txBox="1"/>
          <p:nvPr/>
        </p:nvSpPr>
        <p:spPr>
          <a:xfrm>
            <a:off x="7801272" y="4548038"/>
            <a:ext cx="10287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475569"/>
                </a:solidFill>
                <a:latin typeface="Lato"/>
                <a:ea typeface="Lato"/>
                <a:cs typeface="Lato"/>
                <a:sym typeface="Lato"/>
              </a:rPr>
              <a:t>AVERAGE SALARY</a:t>
            </a:r>
            <a:endParaRPr/>
          </a:p>
        </p:txBody>
      </p:sp>
      <p:sp>
        <p:nvSpPr>
          <p:cNvPr id="220" name="Google Shape;220;p19"/>
          <p:cNvSpPr txBox="1"/>
          <p:nvPr/>
        </p:nvSpPr>
        <p:spPr>
          <a:xfrm>
            <a:off x="7801272" y="4709963"/>
            <a:ext cx="1019100" cy="300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950" u="none" cap="none" strike="noStrike">
                <a:solidFill>
                  <a:srgbClr val="0F172A"/>
                </a:solidFill>
                <a:latin typeface="Poppins"/>
                <a:ea typeface="Poppins"/>
                <a:cs typeface="Poppins"/>
                <a:sym typeface="Poppins"/>
              </a:rPr>
              <a:t>$26,000</a:t>
            </a:r>
            <a:endParaRPr/>
          </a:p>
        </p:txBody>
      </p:sp>
      <p:pic>
        <p:nvPicPr>
          <p:cNvPr descr="image.png" id="221" name="Google Shape;221;p19"/>
          <p:cNvPicPr preferRelativeResize="0"/>
          <p:nvPr/>
        </p:nvPicPr>
        <p:blipFill rotWithShape="1">
          <a:blip r:embed="rId18">
            <a:alphaModFix/>
          </a:blip>
          <a:srcRect b="0" l="0" r="0" t="0"/>
          <a:stretch/>
        </p:blipFill>
        <p:spPr>
          <a:xfrm>
            <a:off x="11144250" y="4538513"/>
            <a:ext cx="133350" cy="171450"/>
          </a:xfrm>
          <a:prstGeom prst="rect">
            <a:avLst/>
          </a:prstGeom>
          <a:noFill/>
          <a:ln>
            <a:noFill/>
          </a:ln>
        </p:spPr>
      </p:pic>
      <p:sp>
        <p:nvSpPr>
          <p:cNvPr id="222" name="Google Shape;222;p19"/>
          <p:cNvSpPr txBox="1"/>
          <p:nvPr/>
        </p:nvSpPr>
        <p:spPr>
          <a:xfrm>
            <a:off x="9787086" y="4548038"/>
            <a:ext cx="7335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475569"/>
                </a:solidFill>
                <a:latin typeface="Lato"/>
                <a:ea typeface="Lato"/>
                <a:cs typeface="Lato"/>
                <a:sym typeface="Lato"/>
              </a:rPr>
              <a:t>AVG TENURE</a:t>
            </a:r>
            <a:endParaRPr/>
          </a:p>
        </p:txBody>
      </p:sp>
      <p:sp>
        <p:nvSpPr>
          <p:cNvPr id="223" name="Google Shape;223;p19"/>
          <p:cNvSpPr txBox="1"/>
          <p:nvPr/>
        </p:nvSpPr>
        <p:spPr>
          <a:xfrm>
            <a:off x="9787071" y="4709975"/>
            <a:ext cx="1728000" cy="300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950" u="none" cap="none" strike="noStrike">
                <a:solidFill>
                  <a:srgbClr val="0F172A"/>
                </a:solidFill>
                <a:latin typeface="Poppins"/>
                <a:ea typeface="Poppins"/>
                <a:cs typeface="Poppins"/>
                <a:sym typeface="Poppins"/>
              </a:rPr>
              <a:t>10.8 Years</a:t>
            </a:r>
            <a:endParaRPr/>
          </a:p>
        </p:txBody>
      </p:sp>
      <p:sp>
        <p:nvSpPr>
          <p:cNvPr id="224" name="Google Shape;224;p19"/>
          <p:cNvSpPr txBox="1"/>
          <p:nvPr/>
        </p:nvSpPr>
        <p:spPr>
          <a:xfrm>
            <a:off x="904875" y="628650"/>
            <a:ext cx="11051400" cy="438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850" u="none" cap="none" strike="noStrike">
                <a:solidFill>
                  <a:srgbClr val="0F172A"/>
                </a:solidFill>
                <a:latin typeface="Poppins SemiBold"/>
                <a:ea typeface="Poppins SemiBold"/>
                <a:cs typeface="Poppins SemiBold"/>
                <a:sym typeface="Poppins SemiBold"/>
              </a:rPr>
              <a:t>Workforce Metrics &amp; Narrative</a:t>
            </a:r>
            <a:endParaRPr/>
          </a:p>
        </p:txBody>
      </p:sp>
      <p:sp>
        <p:nvSpPr>
          <p:cNvPr id="225" name="Google Shape;225;p19"/>
          <p:cNvSpPr/>
          <p:nvPr/>
        </p:nvSpPr>
        <p:spPr>
          <a:xfrm>
            <a:off x="762000" y="628650"/>
            <a:ext cx="47700" cy="43440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26" name="Google Shape;226;p19"/>
          <p:cNvPicPr preferRelativeResize="0"/>
          <p:nvPr/>
        </p:nvPicPr>
        <p:blipFill rotWithShape="1">
          <a:blip r:embed="rId19">
            <a:alphaModFix/>
          </a:blip>
          <a:srcRect b="0" l="0" r="0" t="0"/>
          <a:stretch/>
        </p:blipFill>
        <p:spPr>
          <a:xfrm>
            <a:off x="762000" y="3449835"/>
            <a:ext cx="133350" cy="152400"/>
          </a:xfrm>
          <a:prstGeom prst="rect">
            <a:avLst/>
          </a:prstGeom>
          <a:noFill/>
          <a:ln>
            <a:noFill/>
          </a:ln>
        </p:spPr>
      </p:pic>
      <p:pic>
        <p:nvPicPr>
          <p:cNvPr descr="image.png" id="227" name="Google Shape;227;p19"/>
          <p:cNvPicPr preferRelativeResize="0"/>
          <p:nvPr/>
        </p:nvPicPr>
        <p:blipFill rotWithShape="1">
          <a:blip r:embed="rId19">
            <a:alphaModFix/>
          </a:blip>
          <a:srcRect b="0" l="0" r="0" t="0"/>
          <a:stretch/>
        </p:blipFill>
        <p:spPr>
          <a:xfrm>
            <a:off x="762000" y="4554735"/>
            <a:ext cx="133350" cy="152400"/>
          </a:xfrm>
          <a:prstGeom prst="rect">
            <a:avLst/>
          </a:prstGeom>
          <a:noFill/>
          <a:ln>
            <a:noFill/>
          </a:ln>
        </p:spPr>
      </p:pic>
      <p:pic>
        <p:nvPicPr>
          <p:cNvPr descr="image.png" id="228" name="Google Shape;228;p19"/>
          <p:cNvPicPr preferRelativeResize="0"/>
          <p:nvPr/>
        </p:nvPicPr>
        <p:blipFill rotWithShape="1">
          <a:blip r:embed="rId19">
            <a:alphaModFix/>
          </a:blip>
          <a:srcRect b="0" l="0" r="0" t="0"/>
          <a:stretch/>
        </p:blipFill>
        <p:spPr>
          <a:xfrm>
            <a:off x="762000" y="5590523"/>
            <a:ext cx="133350" cy="152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32" name="Shape 232"/>
        <p:cNvGrpSpPr/>
        <p:nvPr/>
      </p:nvGrpSpPr>
      <p:grpSpPr>
        <a:xfrm>
          <a:off x="0" y="0"/>
          <a:ext cx="0" cy="0"/>
          <a:chOff x="0" y="0"/>
          <a:chExt cx="0" cy="0"/>
        </a:xfrm>
      </p:grpSpPr>
      <p:pic>
        <p:nvPicPr>
          <p:cNvPr descr="image.png" id="233" name="Google Shape;233;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4" name="Google Shape;234;p20"/>
          <p:cNvPicPr preferRelativeResize="0"/>
          <p:nvPr/>
        </p:nvPicPr>
        <p:blipFill rotWithShape="1">
          <a:blip r:embed="rId4">
            <a:alphaModFix/>
          </a:blip>
          <a:srcRect b="0" l="0" r="0" t="0"/>
          <a:stretch/>
        </p:blipFill>
        <p:spPr>
          <a:xfrm>
            <a:off x="762000" y="1348680"/>
            <a:ext cx="10668000" cy="1019175"/>
          </a:xfrm>
          <a:prstGeom prst="rect">
            <a:avLst/>
          </a:prstGeom>
          <a:noFill/>
          <a:ln>
            <a:noFill/>
          </a:ln>
        </p:spPr>
      </p:pic>
      <p:pic>
        <p:nvPicPr>
          <p:cNvPr descr="image.png" id="235" name="Google Shape;235;p20"/>
          <p:cNvPicPr preferRelativeResize="0"/>
          <p:nvPr/>
        </p:nvPicPr>
        <p:blipFill rotWithShape="1">
          <a:blip r:embed="rId5">
            <a:alphaModFix/>
          </a:blip>
          <a:srcRect b="0" l="0" r="0" t="0"/>
          <a:stretch/>
        </p:blipFill>
        <p:spPr>
          <a:xfrm>
            <a:off x="762000" y="2558355"/>
            <a:ext cx="5262562" cy="1128414"/>
          </a:xfrm>
          <a:prstGeom prst="rect">
            <a:avLst/>
          </a:prstGeom>
          <a:noFill/>
          <a:ln>
            <a:noFill/>
          </a:ln>
        </p:spPr>
      </p:pic>
      <p:pic>
        <p:nvPicPr>
          <p:cNvPr descr="image.png" id="236" name="Google Shape;236;p20"/>
          <p:cNvPicPr preferRelativeResize="0"/>
          <p:nvPr/>
        </p:nvPicPr>
        <p:blipFill rotWithShape="1">
          <a:blip r:embed="rId6">
            <a:alphaModFix/>
          </a:blip>
          <a:srcRect b="0" l="0" r="0" t="0"/>
          <a:stretch/>
        </p:blipFill>
        <p:spPr>
          <a:xfrm>
            <a:off x="6167437" y="2558355"/>
            <a:ext cx="5262562" cy="1128414"/>
          </a:xfrm>
          <a:prstGeom prst="rect">
            <a:avLst/>
          </a:prstGeom>
          <a:noFill/>
          <a:ln>
            <a:noFill/>
          </a:ln>
        </p:spPr>
      </p:pic>
      <p:pic>
        <p:nvPicPr>
          <p:cNvPr descr="image.png" id="237" name="Google Shape;237;p20"/>
          <p:cNvPicPr preferRelativeResize="0"/>
          <p:nvPr/>
        </p:nvPicPr>
        <p:blipFill rotWithShape="1">
          <a:blip r:embed="rId7">
            <a:alphaModFix/>
          </a:blip>
          <a:srcRect b="0" l="0" r="0" t="0"/>
          <a:stretch/>
        </p:blipFill>
        <p:spPr>
          <a:xfrm>
            <a:off x="762000" y="3829645"/>
            <a:ext cx="5262562" cy="1128414"/>
          </a:xfrm>
          <a:prstGeom prst="rect">
            <a:avLst/>
          </a:prstGeom>
          <a:noFill/>
          <a:ln>
            <a:noFill/>
          </a:ln>
        </p:spPr>
      </p:pic>
      <p:pic>
        <p:nvPicPr>
          <p:cNvPr descr="image.png" id="238" name="Google Shape;238;p20"/>
          <p:cNvPicPr preferRelativeResize="0"/>
          <p:nvPr/>
        </p:nvPicPr>
        <p:blipFill rotWithShape="1">
          <a:blip r:embed="rId8">
            <a:alphaModFix/>
          </a:blip>
          <a:srcRect b="0" l="0" r="0" t="0"/>
          <a:stretch/>
        </p:blipFill>
        <p:spPr>
          <a:xfrm>
            <a:off x="6167437" y="3829645"/>
            <a:ext cx="5262562" cy="1128414"/>
          </a:xfrm>
          <a:prstGeom prst="rect">
            <a:avLst/>
          </a:prstGeom>
          <a:noFill/>
          <a:ln>
            <a:noFill/>
          </a:ln>
        </p:spPr>
      </p:pic>
      <p:pic>
        <p:nvPicPr>
          <p:cNvPr descr="image.png" id="239" name="Google Shape;239;p20"/>
          <p:cNvPicPr preferRelativeResize="0"/>
          <p:nvPr/>
        </p:nvPicPr>
        <p:blipFill rotWithShape="1">
          <a:blip r:embed="rId9">
            <a:alphaModFix/>
          </a:blip>
          <a:srcRect b="0" l="0" r="0" t="0"/>
          <a:stretch/>
        </p:blipFill>
        <p:spPr>
          <a:xfrm>
            <a:off x="762000" y="571500"/>
            <a:ext cx="10668000" cy="57150"/>
          </a:xfrm>
          <a:prstGeom prst="rect">
            <a:avLst/>
          </a:prstGeom>
          <a:noFill/>
          <a:ln>
            <a:noFill/>
          </a:ln>
        </p:spPr>
      </p:pic>
      <p:pic>
        <p:nvPicPr>
          <p:cNvPr descr="image.png" id="240" name="Google Shape;240;p20"/>
          <p:cNvPicPr preferRelativeResize="0"/>
          <p:nvPr/>
        </p:nvPicPr>
        <p:blipFill rotWithShape="1">
          <a:blip r:embed="rId10">
            <a:alphaModFix/>
          </a:blip>
          <a:srcRect b="0" l="0" r="0" t="0"/>
          <a:stretch/>
        </p:blipFill>
        <p:spPr>
          <a:xfrm>
            <a:off x="1000125" y="1696342"/>
            <a:ext cx="342900" cy="342900"/>
          </a:xfrm>
          <a:prstGeom prst="rect">
            <a:avLst/>
          </a:prstGeom>
          <a:noFill/>
          <a:ln>
            <a:noFill/>
          </a:ln>
        </p:spPr>
      </p:pic>
      <p:sp>
        <p:nvSpPr>
          <p:cNvPr id="241" name="Google Shape;241;p20"/>
          <p:cNvSpPr txBox="1"/>
          <p:nvPr/>
        </p:nvSpPr>
        <p:spPr>
          <a:xfrm>
            <a:off x="1533525" y="1510605"/>
            <a:ext cx="10141267"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oppins"/>
                <a:ea typeface="Poppins"/>
                <a:cs typeface="Poppins"/>
                <a:sym typeface="Poppins"/>
              </a:rPr>
              <a:t>Critical Macro Turnover Benchmark</a:t>
            </a:r>
            <a:endParaRPr/>
          </a:p>
        </p:txBody>
      </p:sp>
      <p:sp>
        <p:nvSpPr>
          <p:cNvPr id="242" name="Google Shape;242;p20"/>
          <p:cNvSpPr txBox="1"/>
          <p:nvPr/>
        </p:nvSpPr>
        <p:spPr>
          <a:xfrm>
            <a:off x="1533525" y="1805880"/>
            <a:ext cx="9658350" cy="4000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475569"/>
                </a:solidFill>
                <a:latin typeface="Lato"/>
                <a:ea typeface="Lato"/>
                <a:cs typeface="Lato"/>
                <a:sym typeface="Lato"/>
              </a:rPr>
              <a:t>Across the organization's comprehensive 50,000-employee data profile, the baseline Attrition Rate stands at a severe </a:t>
            </a:r>
            <a:r>
              <a:rPr b="1" i="0" lang="en-US" sz="1125" u="none" cap="none" strike="noStrike">
                <a:solidFill>
                  <a:srgbClr val="475569"/>
                </a:solidFill>
                <a:latin typeface="Lato"/>
                <a:ea typeface="Lato"/>
                <a:cs typeface="Lato"/>
                <a:sym typeface="Lato"/>
              </a:rPr>
              <a:t>50.21% (representing 25,105 departed individuals)</a:t>
            </a:r>
            <a:r>
              <a:rPr b="0" i="0" lang="en-US" sz="1125" u="none" cap="none" strike="noStrike">
                <a:solidFill>
                  <a:srgbClr val="475569"/>
                </a:solidFill>
                <a:latin typeface="Lato"/>
                <a:ea typeface="Lato"/>
                <a:cs typeface="Lato"/>
                <a:sym typeface="Lato"/>
              </a:rPr>
              <a:t>, signaling an urgent need for structural retention strategies.</a:t>
            </a:r>
            <a:endParaRPr/>
          </a:p>
        </p:txBody>
      </p:sp>
      <p:sp>
        <p:nvSpPr>
          <p:cNvPr id="243" name="Google Shape;243;p20"/>
          <p:cNvSpPr txBox="1"/>
          <p:nvPr/>
        </p:nvSpPr>
        <p:spPr>
          <a:xfrm>
            <a:off x="1171575" y="2701230"/>
            <a:ext cx="4885610" cy="2381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Poppins SemiBold"/>
                <a:ea typeface="Poppins SemiBold"/>
                <a:cs typeface="Poppins SemiBold"/>
                <a:sym typeface="Poppins SemiBold"/>
              </a:rPr>
              <a:t>High-Risk Business Segments</a:t>
            </a:r>
            <a:endParaRPr/>
          </a:p>
        </p:txBody>
      </p:sp>
      <p:sp>
        <p:nvSpPr>
          <p:cNvPr id="244" name="Google Shape;244;p20"/>
          <p:cNvSpPr txBox="1"/>
          <p:nvPr/>
        </p:nvSpPr>
        <p:spPr>
          <a:xfrm>
            <a:off x="962025" y="2996505"/>
            <a:ext cx="4862512" cy="547389"/>
          </a:xfrm>
          <a:prstGeom prst="rect">
            <a:avLst/>
          </a:prstGeom>
          <a:noFill/>
          <a:ln>
            <a:noFill/>
          </a:ln>
        </p:spPr>
        <p:txBody>
          <a:bodyPr anchorCtr="0" anchor="t" bIns="0" lIns="0" spcFirstLastPara="1" rIns="0" wrap="square" tIns="0">
            <a:spAutoFit/>
          </a:bodyPr>
          <a:lstStyle/>
          <a:p>
            <a:pPr indent="0" lvl="0" marL="0" marR="0" rtl="0" algn="l">
              <a:lnSpc>
                <a:spcPct val="141996"/>
              </a:lnSpc>
              <a:spcBef>
                <a:spcPts val="0"/>
              </a:spcBef>
              <a:spcAft>
                <a:spcPts val="0"/>
              </a:spcAft>
              <a:buNone/>
            </a:pPr>
            <a:r>
              <a:rPr b="0" i="0" lang="en-US" sz="1012" u="none" cap="none" strike="noStrike">
                <a:solidFill>
                  <a:srgbClr val="475569"/>
                </a:solidFill>
                <a:latin typeface="Lato"/>
                <a:ea typeface="Lato"/>
                <a:cs typeface="Lato"/>
                <a:sym typeface="Lato"/>
              </a:rPr>
              <a:t>Departmental isolation shows that </a:t>
            </a:r>
            <a:r>
              <a:rPr b="1" i="0" lang="en-US" sz="1012" u="none" cap="none" strike="noStrike">
                <a:solidFill>
                  <a:srgbClr val="475569"/>
                </a:solidFill>
                <a:latin typeface="Lato"/>
                <a:ea typeface="Lato"/>
                <a:cs typeface="Lato"/>
                <a:sym typeface="Lato"/>
              </a:rPr>
              <a:t>Research &amp; Development</a:t>
            </a:r>
            <a:r>
              <a:rPr b="0" i="0" lang="en-US" sz="1012" u="none" cap="none" strike="noStrike">
                <a:solidFill>
                  <a:srgbClr val="475569"/>
                </a:solidFill>
                <a:latin typeface="Lato"/>
                <a:ea typeface="Lato"/>
                <a:cs typeface="Lato"/>
                <a:sym typeface="Lato"/>
              </a:rPr>
              <a:t> experiences the highest attrition at </a:t>
            </a:r>
            <a:r>
              <a:rPr b="1" i="0" lang="en-US" sz="1012" u="none" cap="none" strike="noStrike">
                <a:solidFill>
                  <a:srgbClr val="475569"/>
                </a:solidFill>
                <a:latin typeface="Lato"/>
                <a:ea typeface="Lato"/>
                <a:cs typeface="Lato"/>
                <a:sym typeface="Lato"/>
              </a:rPr>
              <a:t>51.21%</a:t>
            </a:r>
            <a:r>
              <a:rPr b="0" i="0" lang="en-US" sz="1012" u="none" cap="none" strike="noStrike">
                <a:solidFill>
                  <a:srgbClr val="475569"/>
                </a:solidFill>
                <a:latin typeface="Lato"/>
                <a:ea typeface="Lato"/>
                <a:cs typeface="Lato"/>
                <a:sym typeface="Lato"/>
              </a:rPr>
              <a:t>, closely trailed by </a:t>
            </a:r>
            <a:r>
              <a:rPr b="1" i="0" lang="en-US" sz="1012" u="none" cap="none" strike="noStrike">
                <a:solidFill>
                  <a:srgbClr val="475569"/>
                </a:solidFill>
                <a:latin typeface="Lato"/>
                <a:ea typeface="Lato"/>
                <a:cs typeface="Lato"/>
                <a:sym typeface="Lato"/>
              </a:rPr>
              <a:t>Software at 50.54%</a:t>
            </a:r>
            <a:r>
              <a:rPr b="0" i="0" lang="en-US" sz="1012" u="none" cap="none" strike="noStrike">
                <a:solidFill>
                  <a:srgbClr val="475569"/>
                </a:solidFill>
                <a:latin typeface="Lato"/>
                <a:ea typeface="Lato"/>
                <a:cs typeface="Lato"/>
                <a:sym typeface="Lato"/>
              </a:rPr>
              <a:t>, indicating that critical technical and innovation hubs are facing the highest flight risk.</a:t>
            </a:r>
            <a:endParaRPr/>
          </a:p>
        </p:txBody>
      </p:sp>
      <p:sp>
        <p:nvSpPr>
          <p:cNvPr id="245" name="Google Shape;245;p20"/>
          <p:cNvSpPr txBox="1"/>
          <p:nvPr/>
        </p:nvSpPr>
        <p:spPr>
          <a:xfrm>
            <a:off x="6577012" y="2701230"/>
            <a:ext cx="4885610" cy="2381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Poppins SemiBold"/>
                <a:ea typeface="Poppins SemiBold"/>
                <a:cs typeface="Poppins SemiBold"/>
                <a:sym typeface="Poppins SemiBold"/>
              </a:rPr>
              <a:t>The Income Threshold Threat</a:t>
            </a:r>
            <a:endParaRPr/>
          </a:p>
        </p:txBody>
      </p:sp>
      <p:sp>
        <p:nvSpPr>
          <p:cNvPr id="246" name="Google Shape;246;p20"/>
          <p:cNvSpPr txBox="1"/>
          <p:nvPr/>
        </p:nvSpPr>
        <p:spPr>
          <a:xfrm>
            <a:off x="6367462" y="2996505"/>
            <a:ext cx="4862512" cy="547389"/>
          </a:xfrm>
          <a:prstGeom prst="rect">
            <a:avLst/>
          </a:prstGeom>
          <a:noFill/>
          <a:ln>
            <a:noFill/>
          </a:ln>
        </p:spPr>
        <p:txBody>
          <a:bodyPr anchorCtr="0" anchor="t" bIns="0" lIns="0" spcFirstLastPara="1" rIns="0" wrap="square" tIns="0">
            <a:spAutoFit/>
          </a:bodyPr>
          <a:lstStyle/>
          <a:p>
            <a:pPr indent="0" lvl="0" marL="0" marR="0" rtl="0" algn="l">
              <a:lnSpc>
                <a:spcPct val="141996"/>
              </a:lnSpc>
              <a:spcBef>
                <a:spcPts val="0"/>
              </a:spcBef>
              <a:spcAft>
                <a:spcPts val="0"/>
              </a:spcAft>
              <a:buNone/>
            </a:pPr>
            <a:r>
              <a:rPr b="0" i="0" lang="en-US" sz="1012" u="none" cap="none" strike="noStrike">
                <a:solidFill>
                  <a:srgbClr val="475569"/>
                </a:solidFill>
                <a:latin typeface="Lato"/>
                <a:ea typeface="Lato"/>
                <a:cs typeface="Lato"/>
                <a:sym typeface="Lato"/>
              </a:rPr>
              <a:t>Turnover spikes significantly to its highest peak of </a:t>
            </a:r>
            <a:r>
              <a:rPr b="1" i="0" lang="en-US" sz="1012" u="none" cap="none" strike="noStrike">
                <a:solidFill>
                  <a:srgbClr val="475569"/>
                </a:solidFill>
                <a:latin typeface="Lato"/>
                <a:ea typeface="Lato"/>
                <a:cs typeface="Lato"/>
                <a:sym typeface="Lato"/>
              </a:rPr>
              <a:t>50.89% to 51.26%</a:t>
            </a:r>
            <a:r>
              <a:rPr b="0" i="0" lang="en-US" sz="1012" u="none" cap="none" strike="noStrike">
                <a:solidFill>
                  <a:srgbClr val="475569"/>
                </a:solidFill>
                <a:latin typeface="Lato"/>
                <a:ea typeface="Lato"/>
                <a:cs typeface="Lato"/>
                <a:sym typeface="Lato"/>
              </a:rPr>
              <a:t> within the highest monthly income bracket </a:t>
            </a:r>
            <a:r>
              <a:rPr b="1" i="0" lang="en-US" sz="1012" u="none" cap="none" strike="noStrike">
                <a:solidFill>
                  <a:srgbClr val="475569"/>
                </a:solidFill>
                <a:latin typeface="Lato"/>
                <a:ea typeface="Lato"/>
                <a:cs typeface="Lato"/>
                <a:sym typeface="Lato"/>
              </a:rPr>
              <a:t>($41,000–$51,000+)</a:t>
            </a:r>
            <a:r>
              <a:rPr b="0" i="0" lang="en-US" sz="1012" u="none" cap="none" strike="noStrike">
                <a:solidFill>
                  <a:srgbClr val="475569"/>
                </a:solidFill>
                <a:latin typeface="Lato"/>
                <a:ea typeface="Lato"/>
                <a:cs typeface="Lato"/>
                <a:sym typeface="Lato"/>
              </a:rPr>
              <a:t>, debunking the assumption that turnover is strictly limited to lower-paid roles.</a:t>
            </a:r>
            <a:endParaRPr/>
          </a:p>
        </p:txBody>
      </p:sp>
      <p:sp>
        <p:nvSpPr>
          <p:cNvPr id="247" name="Google Shape;247;p20"/>
          <p:cNvSpPr txBox="1"/>
          <p:nvPr/>
        </p:nvSpPr>
        <p:spPr>
          <a:xfrm>
            <a:off x="1171575" y="3972520"/>
            <a:ext cx="4885610" cy="2381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Poppins SemiBold"/>
                <a:ea typeface="Poppins SemiBold"/>
                <a:cs typeface="Poppins SemiBold"/>
                <a:sym typeface="Poppins SemiBold"/>
              </a:rPr>
              <a:t>Late-Career Tenured Burnout Horizon</a:t>
            </a:r>
            <a:endParaRPr/>
          </a:p>
        </p:txBody>
      </p:sp>
      <p:sp>
        <p:nvSpPr>
          <p:cNvPr id="248" name="Google Shape;248;p20"/>
          <p:cNvSpPr txBox="1"/>
          <p:nvPr/>
        </p:nvSpPr>
        <p:spPr>
          <a:xfrm>
            <a:off x="962025" y="4267795"/>
            <a:ext cx="4862512" cy="547389"/>
          </a:xfrm>
          <a:prstGeom prst="rect">
            <a:avLst/>
          </a:prstGeom>
          <a:noFill/>
          <a:ln>
            <a:noFill/>
          </a:ln>
        </p:spPr>
        <p:txBody>
          <a:bodyPr anchorCtr="0" anchor="t" bIns="0" lIns="0" spcFirstLastPara="1" rIns="0" wrap="square" tIns="0">
            <a:spAutoFit/>
          </a:bodyPr>
          <a:lstStyle/>
          <a:p>
            <a:pPr indent="0" lvl="0" marL="0" marR="0" rtl="0" algn="l">
              <a:lnSpc>
                <a:spcPct val="141996"/>
              </a:lnSpc>
              <a:spcBef>
                <a:spcPts val="0"/>
              </a:spcBef>
              <a:spcAft>
                <a:spcPts val="0"/>
              </a:spcAft>
              <a:buNone/>
            </a:pPr>
            <a:r>
              <a:rPr b="0" i="0" lang="en-US" sz="1012" u="none" cap="none" strike="noStrike">
                <a:solidFill>
                  <a:srgbClr val="475569"/>
                </a:solidFill>
                <a:latin typeface="Lato"/>
                <a:ea typeface="Lato"/>
                <a:cs typeface="Lato"/>
                <a:sym typeface="Lato"/>
              </a:rPr>
              <a:t>The average tenure across departments is heavily concentrated between </a:t>
            </a:r>
            <a:r>
              <a:rPr b="1" i="0" lang="en-US" sz="1012" u="none" cap="none" strike="noStrike">
                <a:solidFill>
                  <a:srgbClr val="475569"/>
                </a:solidFill>
                <a:latin typeface="Lato"/>
                <a:ea typeface="Lato"/>
                <a:cs typeface="Lato"/>
                <a:sym typeface="Lato"/>
              </a:rPr>
              <a:t>20.30 and 20.65 total working years</a:t>
            </a:r>
            <a:r>
              <a:rPr b="0" i="0" lang="en-US" sz="1012" u="none" cap="none" strike="noStrike">
                <a:solidFill>
                  <a:srgbClr val="475569"/>
                </a:solidFill>
                <a:latin typeface="Lato"/>
                <a:ea typeface="Lato"/>
                <a:cs typeface="Lato"/>
                <a:sym typeface="Lato"/>
              </a:rPr>
              <a:t>, demonstrating that departures are severely impacting highly integrated workforce brackets rather than onboarding cohorts.</a:t>
            </a:r>
            <a:endParaRPr/>
          </a:p>
        </p:txBody>
      </p:sp>
      <p:sp>
        <p:nvSpPr>
          <p:cNvPr id="249" name="Google Shape;249;p20"/>
          <p:cNvSpPr txBox="1"/>
          <p:nvPr/>
        </p:nvSpPr>
        <p:spPr>
          <a:xfrm>
            <a:off x="6615112" y="3972520"/>
            <a:ext cx="4845605" cy="2381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Poppins SemiBold"/>
                <a:ea typeface="Poppins SemiBold"/>
                <a:cs typeface="Poppins SemiBold"/>
                <a:sym typeface="Poppins SemiBold"/>
              </a:rPr>
              <a:t>Universal Quality of Life Floor</a:t>
            </a:r>
            <a:endParaRPr/>
          </a:p>
        </p:txBody>
      </p:sp>
      <p:sp>
        <p:nvSpPr>
          <p:cNvPr id="250" name="Google Shape;250;p20"/>
          <p:cNvSpPr txBox="1"/>
          <p:nvPr/>
        </p:nvSpPr>
        <p:spPr>
          <a:xfrm>
            <a:off x="6367462" y="4267795"/>
            <a:ext cx="4862512" cy="547389"/>
          </a:xfrm>
          <a:prstGeom prst="rect">
            <a:avLst/>
          </a:prstGeom>
          <a:noFill/>
          <a:ln>
            <a:noFill/>
          </a:ln>
        </p:spPr>
        <p:txBody>
          <a:bodyPr anchorCtr="0" anchor="t" bIns="0" lIns="0" spcFirstLastPara="1" rIns="0" wrap="square" tIns="0">
            <a:spAutoFit/>
          </a:bodyPr>
          <a:lstStyle/>
          <a:p>
            <a:pPr indent="0" lvl="0" marL="0" marR="0" rtl="0" algn="l">
              <a:lnSpc>
                <a:spcPct val="141996"/>
              </a:lnSpc>
              <a:spcBef>
                <a:spcPts val="0"/>
              </a:spcBef>
              <a:spcAft>
                <a:spcPts val="0"/>
              </a:spcAft>
              <a:buNone/>
            </a:pPr>
            <a:r>
              <a:rPr b="0" i="0" lang="en-US" sz="1012" u="none" cap="none" strike="noStrike">
                <a:solidFill>
                  <a:srgbClr val="475569"/>
                </a:solidFill>
                <a:latin typeface="Lato"/>
                <a:ea typeface="Lato"/>
                <a:cs typeface="Lato"/>
                <a:sym typeface="Lato"/>
              </a:rPr>
              <a:t>The organizational Average Work-Life Balance score is locked at a mediocre </a:t>
            </a:r>
            <a:r>
              <a:rPr b="1" i="0" lang="en-US" sz="1012" u="none" cap="none" strike="noStrike">
                <a:solidFill>
                  <a:srgbClr val="475569"/>
                </a:solidFill>
                <a:latin typeface="Lato"/>
                <a:ea typeface="Lato"/>
                <a:cs typeface="Lato"/>
                <a:sym typeface="Lato"/>
              </a:rPr>
              <a:t>2.50 out of 4.00</a:t>
            </a:r>
            <a:r>
              <a:rPr b="0" i="0" lang="en-US" sz="1012" u="none" cap="none" strike="noStrike">
                <a:solidFill>
                  <a:srgbClr val="475569"/>
                </a:solidFill>
                <a:latin typeface="Lato"/>
                <a:ea typeface="Lato"/>
                <a:cs typeface="Lato"/>
                <a:sym typeface="Lato"/>
              </a:rPr>
              <a:t>, showing a system-wide cultural ceiling that actively contributes to sustained workforce exhaustion.</a:t>
            </a:r>
            <a:endParaRPr/>
          </a:p>
        </p:txBody>
      </p:sp>
      <p:pic>
        <p:nvPicPr>
          <p:cNvPr descr="image.png" id="251" name="Google Shape;251;p20"/>
          <p:cNvPicPr preferRelativeResize="0"/>
          <p:nvPr/>
        </p:nvPicPr>
        <p:blipFill rotWithShape="1">
          <a:blip r:embed="rId11">
            <a:alphaModFix/>
          </a:blip>
          <a:srcRect b="0" l="0" r="0" t="0"/>
          <a:stretch/>
        </p:blipFill>
        <p:spPr>
          <a:xfrm>
            <a:off x="962025" y="2753617"/>
            <a:ext cx="133350" cy="133350"/>
          </a:xfrm>
          <a:prstGeom prst="rect">
            <a:avLst/>
          </a:prstGeom>
          <a:noFill/>
          <a:ln>
            <a:noFill/>
          </a:ln>
        </p:spPr>
      </p:pic>
      <p:pic>
        <p:nvPicPr>
          <p:cNvPr descr="image.png" id="252" name="Google Shape;252;p20"/>
          <p:cNvPicPr preferRelativeResize="0"/>
          <p:nvPr/>
        </p:nvPicPr>
        <p:blipFill rotWithShape="1">
          <a:blip r:embed="rId12">
            <a:alphaModFix/>
          </a:blip>
          <a:srcRect b="0" l="0" r="0" t="0"/>
          <a:stretch/>
        </p:blipFill>
        <p:spPr>
          <a:xfrm>
            <a:off x="6367462" y="2753617"/>
            <a:ext cx="133350" cy="133350"/>
          </a:xfrm>
          <a:prstGeom prst="rect">
            <a:avLst/>
          </a:prstGeom>
          <a:noFill/>
          <a:ln>
            <a:noFill/>
          </a:ln>
        </p:spPr>
      </p:pic>
      <p:pic>
        <p:nvPicPr>
          <p:cNvPr descr="image.png" id="253" name="Google Shape;253;p20"/>
          <p:cNvPicPr preferRelativeResize="0"/>
          <p:nvPr/>
        </p:nvPicPr>
        <p:blipFill rotWithShape="1">
          <a:blip r:embed="rId13">
            <a:alphaModFix/>
          </a:blip>
          <a:srcRect b="0" l="0" r="0" t="0"/>
          <a:stretch/>
        </p:blipFill>
        <p:spPr>
          <a:xfrm>
            <a:off x="962025" y="4024907"/>
            <a:ext cx="133350" cy="133350"/>
          </a:xfrm>
          <a:prstGeom prst="rect">
            <a:avLst/>
          </a:prstGeom>
          <a:noFill/>
          <a:ln>
            <a:noFill/>
          </a:ln>
        </p:spPr>
      </p:pic>
      <p:pic>
        <p:nvPicPr>
          <p:cNvPr descr="image.png" id="254" name="Google Shape;254;p20"/>
          <p:cNvPicPr preferRelativeResize="0"/>
          <p:nvPr/>
        </p:nvPicPr>
        <p:blipFill rotWithShape="1">
          <a:blip r:embed="rId14">
            <a:alphaModFix/>
          </a:blip>
          <a:srcRect b="0" l="0" r="0" t="0"/>
          <a:stretch/>
        </p:blipFill>
        <p:spPr>
          <a:xfrm>
            <a:off x="6367462" y="4024907"/>
            <a:ext cx="171450" cy="133350"/>
          </a:xfrm>
          <a:prstGeom prst="rect">
            <a:avLst/>
          </a:prstGeom>
          <a:noFill/>
          <a:ln>
            <a:noFill/>
          </a:ln>
        </p:spPr>
      </p:pic>
      <p:sp>
        <p:nvSpPr>
          <p:cNvPr id="255" name="Google Shape;255;p20"/>
          <p:cNvSpPr txBox="1"/>
          <p:nvPr/>
        </p:nvSpPr>
        <p:spPr>
          <a:xfrm>
            <a:off x="904875" y="628650"/>
            <a:ext cx="11051381"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850" u="none" cap="none" strike="noStrike">
                <a:solidFill>
                  <a:srgbClr val="0F172A"/>
                </a:solidFill>
                <a:latin typeface="Poppins SemiBold"/>
                <a:ea typeface="Poppins SemiBold"/>
                <a:cs typeface="Poppins SemiBold"/>
                <a:sym typeface="Poppins SemiBold"/>
              </a:rPr>
              <a:t>Key Insights from the Data</a:t>
            </a:r>
            <a:endParaRPr/>
          </a:p>
        </p:txBody>
      </p:sp>
      <p:sp>
        <p:nvSpPr>
          <p:cNvPr id="256" name="Google Shape;256;p20"/>
          <p:cNvSpPr/>
          <p:nvPr/>
        </p:nvSpPr>
        <p:spPr>
          <a:xfrm>
            <a:off x="762000" y="628650"/>
            <a:ext cx="47625" cy="43428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0" name="Shape 260"/>
        <p:cNvGrpSpPr/>
        <p:nvPr/>
      </p:nvGrpSpPr>
      <p:grpSpPr>
        <a:xfrm>
          <a:off x="0" y="0"/>
          <a:ext cx="0" cy="0"/>
          <a:chOff x="0" y="0"/>
          <a:chExt cx="0" cy="0"/>
        </a:xfrm>
      </p:grpSpPr>
      <p:pic>
        <p:nvPicPr>
          <p:cNvPr descr="image.png" id="261" name="Google Shape;261;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2" name="Google Shape;262;p21"/>
          <p:cNvPicPr preferRelativeResize="0"/>
          <p:nvPr/>
        </p:nvPicPr>
        <p:blipFill rotWithShape="1">
          <a:blip r:embed="rId4">
            <a:alphaModFix/>
          </a:blip>
          <a:srcRect b="0" l="0" r="0" t="0"/>
          <a:stretch/>
        </p:blipFill>
        <p:spPr>
          <a:xfrm>
            <a:off x="762000" y="1348680"/>
            <a:ext cx="4417962" cy="4937819"/>
          </a:xfrm>
          <a:prstGeom prst="rect">
            <a:avLst/>
          </a:prstGeom>
          <a:noFill/>
          <a:ln>
            <a:noFill/>
          </a:ln>
        </p:spPr>
      </p:pic>
      <p:pic>
        <p:nvPicPr>
          <p:cNvPr descr="image.png" id="263" name="Google Shape;263;p21"/>
          <p:cNvPicPr preferRelativeResize="0"/>
          <p:nvPr/>
        </p:nvPicPr>
        <p:blipFill rotWithShape="1">
          <a:blip r:embed="rId5">
            <a:alphaModFix/>
          </a:blip>
          <a:srcRect b="0" l="0" r="0" t="0"/>
          <a:stretch/>
        </p:blipFill>
        <p:spPr>
          <a:xfrm>
            <a:off x="5465712" y="1348680"/>
            <a:ext cx="2886819" cy="2373659"/>
          </a:xfrm>
          <a:prstGeom prst="rect">
            <a:avLst/>
          </a:prstGeom>
          <a:noFill/>
          <a:ln>
            <a:noFill/>
          </a:ln>
        </p:spPr>
      </p:pic>
      <p:pic>
        <p:nvPicPr>
          <p:cNvPr descr="image.png" id="264" name="Google Shape;264;p21"/>
          <p:cNvPicPr preferRelativeResize="0"/>
          <p:nvPr/>
        </p:nvPicPr>
        <p:blipFill rotWithShape="1">
          <a:blip r:embed="rId6">
            <a:alphaModFix/>
          </a:blip>
          <a:srcRect b="0" l="0" r="0" t="0"/>
          <a:stretch/>
        </p:blipFill>
        <p:spPr>
          <a:xfrm>
            <a:off x="8543032" y="1348680"/>
            <a:ext cx="2886967" cy="2373659"/>
          </a:xfrm>
          <a:prstGeom prst="rect">
            <a:avLst/>
          </a:prstGeom>
          <a:noFill/>
          <a:ln>
            <a:noFill/>
          </a:ln>
        </p:spPr>
      </p:pic>
      <p:pic>
        <p:nvPicPr>
          <p:cNvPr descr="image.png" id="265" name="Google Shape;265;p21"/>
          <p:cNvPicPr preferRelativeResize="0"/>
          <p:nvPr/>
        </p:nvPicPr>
        <p:blipFill rotWithShape="1">
          <a:blip r:embed="rId5">
            <a:alphaModFix/>
          </a:blip>
          <a:srcRect b="0" l="0" r="0" t="0"/>
          <a:stretch/>
        </p:blipFill>
        <p:spPr>
          <a:xfrm>
            <a:off x="5465712" y="3912840"/>
            <a:ext cx="2886819" cy="2373659"/>
          </a:xfrm>
          <a:prstGeom prst="rect">
            <a:avLst/>
          </a:prstGeom>
          <a:noFill/>
          <a:ln>
            <a:noFill/>
          </a:ln>
        </p:spPr>
      </p:pic>
      <p:pic>
        <p:nvPicPr>
          <p:cNvPr descr="image.png" id="266" name="Google Shape;266;p21"/>
          <p:cNvPicPr preferRelativeResize="0"/>
          <p:nvPr/>
        </p:nvPicPr>
        <p:blipFill rotWithShape="1">
          <a:blip r:embed="rId7">
            <a:alphaModFix/>
          </a:blip>
          <a:srcRect b="0" l="0" r="0" t="0"/>
          <a:stretch/>
        </p:blipFill>
        <p:spPr>
          <a:xfrm>
            <a:off x="8543032" y="3912840"/>
            <a:ext cx="2886967" cy="2373659"/>
          </a:xfrm>
          <a:prstGeom prst="rect">
            <a:avLst/>
          </a:prstGeom>
          <a:noFill/>
          <a:ln>
            <a:noFill/>
          </a:ln>
        </p:spPr>
      </p:pic>
      <p:pic>
        <p:nvPicPr>
          <p:cNvPr descr="image.png" id="267" name="Google Shape;267;p21"/>
          <p:cNvPicPr preferRelativeResize="0"/>
          <p:nvPr/>
        </p:nvPicPr>
        <p:blipFill rotWithShape="1">
          <a:blip r:embed="rId8">
            <a:alphaModFix/>
          </a:blip>
          <a:srcRect b="0" l="0" r="0" t="0"/>
          <a:stretch/>
        </p:blipFill>
        <p:spPr>
          <a:xfrm>
            <a:off x="762000" y="571500"/>
            <a:ext cx="10668000" cy="57150"/>
          </a:xfrm>
          <a:prstGeom prst="rect">
            <a:avLst/>
          </a:prstGeom>
          <a:noFill/>
          <a:ln>
            <a:noFill/>
          </a:ln>
        </p:spPr>
      </p:pic>
      <p:sp>
        <p:nvSpPr>
          <p:cNvPr id="268" name="Google Shape;268;p21"/>
          <p:cNvSpPr txBox="1"/>
          <p:nvPr/>
        </p:nvSpPr>
        <p:spPr>
          <a:xfrm>
            <a:off x="1057275" y="2762696"/>
            <a:ext cx="3827400" cy="3960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475569"/>
                </a:solidFill>
                <a:latin typeface="Lato"/>
                <a:ea typeface="Lato"/>
                <a:cs typeface="Lato"/>
                <a:sym typeface="Lato"/>
              </a:rPr>
              <a:t>End-to-end data validation across </a:t>
            </a:r>
            <a:r>
              <a:rPr b="1" i="0" lang="en-US" sz="1050" u="none" cap="none" strike="noStrike">
                <a:solidFill>
                  <a:srgbClr val="475569"/>
                </a:solidFill>
                <a:latin typeface="Lato"/>
                <a:ea typeface="Lato"/>
                <a:cs typeface="Lato"/>
                <a:sym typeface="Lato"/>
              </a:rPr>
              <a:t>Excel</a:t>
            </a:r>
            <a:r>
              <a:rPr b="0" i="0" lang="en-US" sz="1050" u="none" cap="none" strike="noStrike">
                <a:solidFill>
                  <a:srgbClr val="475569"/>
                </a:solidFill>
                <a:latin typeface="Lato"/>
                <a:ea typeface="Lato"/>
                <a:cs typeface="Lato"/>
                <a:sym typeface="Lato"/>
              </a:rPr>
              <a:t>, </a:t>
            </a:r>
            <a:r>
              <a:rPr b="1" i="0" lang="en-US" sz="1050" u="none" cap="none" strike="noStrike">
                <a:solidFill>
                  <a:srgbClr val="475569"/>
                </a:solidFill>
                <a:latin typeface="Lato"/>
                <a:ea typeface="Lato"/>
                <a:cs typeface="Lato"/>
                <a:sym typeface="Lato"/>
              </a:rPr>
              <a:t>Power BI</a:t>
            </a:r>
            <a:r>
              <a:rPr b="0" i="0" lang="en-US" sz="1050" u="none" cap="none" strike="noStrike">
                <a:solidFill>
                  <a:srgbClr val="475569"/>
                </a:solidFill>
                <a:latin typeface="Lato"/>
                <a:ea typeface="Lato"/>
                <a:cs typeface="Lato"/>
                <a:sym typeface="Lato"/>
              </a:rPr>
              <a:t>, and </a:t>
            </a:r>
            <a:r>
              <a:rPr b="1" i="0" lang="en-US" sz="1050" u="none" cap="none" strike="noStrike">
                <a:solidFill>
                  <a:srgbClr val="475569"/>
                </a:solidFill>
                <a:latin typeface="Lato"/>
                <a:ea typeface="Lato"/>
                <a:cs typeface="Lato"/>
                <a:sym typeface="Lato"/>
              </a:rPr>
              <a:t>Tableau</a:t>
            </a:r>
            <a:r>
              <a:rPr b="0" i="0" lang="en-US" sz="1050" u="none" cap="none" strike="noStrike">
                <a:solidFill>
                  <a:srgbClr val="475569"/>
                </a:solidFill>
                <a:latin typeface="Lato"/>
                <a:ea typeface="Lato"/>
                <a:cs typeface="Lato"/>
                <a:sym typeface="Lato"/>
              </a:rPr>
              <a:t>  yields a perfect metric match:</a:t>
            </a:r>
            <a:endParaRPr/>
          </a:p>
        </p:txBody>
      </p:sp>
      <p:sp>
        <p:nvSpPr>
          <p:cNvPr id="269" name="Google Shape;269;p21"/>
          <p:cNvSpPr txBox="1"/>
          <p:nvPr/>
        </p:nvSpPr>
        <p:spPr>
          <a:xfrm>
            <a:off x="1057275" y="4942879"/>
            <a:ext cx="38274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475569"/>
                </a:solidFill>
                <a:latin typeface="Lato"/>
                <a:ea typeface="Lato"/>
                <a:cs typeface="Lato"/>
                <a:sym typeface="Lato"/>
              </a:rPr>
              <a:t>This cross-platform match confirms absolute pipeline accuracy, data processing security, and complete model reliability.</a:t>
            </a:r>
            <a:endParaRPr/>
          </a:p>
        </p:txBody>
      </p:sp>
      <p:pic>
        <p:nvPicPr>
          <p:cNvPr descr="image.png" id="270" name="Google Shape;270;p21"/>
          <p:cNvPicPr preferRelativeResize="0"/>
          <p:nvPr/>
        </p:nvPicPr>
        <p:blipFill rotWithShape="1">
          <a:blip r:embed="rId9">
            <a:alphaModFix/>
          </a:blip>
          <a:srcRect b="0" l="0" r="0" t="0"/>
          <a:stretch/>
        </p:blipFill>
        <p:spPr>
          <a:xfrm>
            <a:off x="1057275" y="2329308"/>
            <a:ext cx="238125" cy="266700"/>
          </a:xfrm>
          <a:prstGeom prst="rect">
            <a:avLst/>
          </a:prstGeom>
          <a:noFill/>
          <a:ln>
            <a:noFill/>
          </a:ln>
        </p:spPr>
      </p:pic>
      <p:sp>
        <p:nvSpPr>
          <p:cNvPr id="271" name="Google Shape;271;p21"/>
          <p:cNvSpPr txBox="1"/>
          <p:nvPr/>
        </p:nvSpPr>
        <p:spPr>
          <a:xfrm>
            <a:off x="1438275" y="2305496"/>
            <a:ext cx="2070258"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oppins"/>
                <a:ea typeface="Poppins"/>
                <a:cs typeface="Poppins"/>
                <a:sym typeface="Poppins"/>
              </a:rPr>
              <a:t>Analytical Lineage</a:t>
            </a:r>
            <a:endParaRPr/>
          </a:p>
        </p:txBody>
      </p:sp>
      <p:pic>
        <p:nvPicPr>
          <p:cNvPr descr="image.png" id="272" name="Google Shape;272;p21"/>
          <p:cNvPicPr preferRelativeResize="0"/>
          <p:nvPr/>
        </p:nvPicPr>
        <p:blipFill rotWithShape="1">
          <a:blip r:embed="rId10">
            <a:alphaModFix/>
          </a:blip>
          <a:srcRect b="0" l="0" r="0" t="0"/>
          <a:stretch/>
        </p:blipFill>
        <p:spPr>
          <a:xfrm>
            <a:off x="1426800" y="4008225"/>
            <a:ext cx="3457875" cy="342900"/>
          </a:xfrm>
          <a:prstGeom prst="rect">
            <a:avLst/>
          </a:prstGeom>
          <a:noFill/>
          <a:ln>
            <a:noFill/>
          </a:ln>
        </p:spPr>
      </p:pic>
      <p:pic>
        <p:nvPicPr>
          <p:cNvPr descr="image.png" id="273" name="Google Shape;273;p21"/>
          <p:cNvPicPr preferRelativeResize="0"/>
          <p:nvPr/>
        </p:nvPicPr>
        <p:blipFill rotWithShape="1">
          <a:blip r:embed="rId11">
            <a:alphaModFix/>
          </a:blip>
          <a:srcRect b="0" l="0" r="0" t="0"/>
          <a:stretch/>
        </p:blipFill>
        <p:spPr>
          <a:xfrm>
            <a:off x="1405250" y="4457100"/>
            <a:ext cx="3457875" cy="342900"/>
          </a:xfrm>
          <a:prstGeom prst="rect">
            <a:avLst/>
          </a:prstGeom>
          <a:noFill/>
          <a:ln>
            <a:noFill/>
          </a:ln>
        </p:spPr>
      </p:pic>
      <p:sp>
        <p:nvSpPr>
          <p:cNvPr id="274" name="Google Shape;274;p21"/>
          <p:cNvSpPr txBox="1"/>
          <p:nvPr/>
        </p:nvSpPr>
        <p:spPr>
          <a:xfrm>
            <a:off x="5894337" y="1548705"/>
            <a:ext cx="2371077"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Poppins SemiBold"/>
                <a:ea typeface="Poppins SemiBold"/>
                <a:cs typeface="Poppins SemiBold"/>
                <a:sym typeface="Poppins SemiBold"/>
              </a:rPr>
              <a:t>Promotion Stagnation Catalyst</a:t>
            </a:r>
            <a:endParaRPr/>
          </a:p>
        </p:txBody>
      </p:sp>
      <p:sp>
        <p:nvSpPr>
          <p:cNvPr id="275" name="Google Shape;275;p21"/>
          <p:cNvSpPr txBox="1"/>
          <p:nvPr/>
        </p:nvSpPr>
        <p:spPr>
          <a:xfrm>
            <a:off x="5665737" y="2101155"/>
            <a:ext cx="2486769" cy="931664"/>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Lato"/>
                <a:ea typeface="Lato"/>
                <a:cs typeface="Lato"/>
                <a:sym typeface="Lato"/>
              </a:rPr>
              <a:t>Attrition stays steady at ~50% for years, but spikes drastically to </a:t>
            </a:r>
            <a:r>
              <a:rPr b="1" i="0" lang="en-US" sz="1012" u="none" cap="none" strike="noStrike">
                <a:solidFill>
                  <a:srgbClr val="475569"/>
                </a:solidFill>
                <a:latin typeface="Lato"/>
                <a:ea typeface="Lato"/>
                <a:cs typeface="Lato"/>
                <a:sym typeface="Lato"/>
              </a:rPr>
              <a:t>56.28%</a:t>
            </a:r>
            <a:r>
              <a:rPr b="0" i="0" lang="en-US" sz="1012" u="none" cap="none" strike="noStrike">
                <a:solidFill>
                  <a:srgbClr val="475569"/>
                </a:solidFill>
                <a:latin typeface="Lato"/>
                <a:ea typeface="Lato"/>
                <a:cs typeface="Lato"/>
                <a:sym typeface="Lato"/>
              </a:rPr>
              <a:t>, </a:t>
            </a:r>
            <a:r>
              <a:rPr b="1" i="0" lang="en-US" sz="1012" u="none" cap="none" strike="noStrike">
                <a:solidFill>
                  <a:srgbClr val="475569"/>
                </a:solidFill>
                <a:latin typeface="Lato"/>
                <a:ea typeface="Lato"/>
                <a:cs typeface="Lato"/>
                <a:sym typeface="Lato"/>
              </a:rPr>
              <a:t>60.53%</a:t>
            </a:r>
            <a:r>
              <a:rPr b="0" i="0" lang="en-US" sz="1012" u="none" cap="none" strike="noStrike">
                <a:solidFill>
                  <a:srgbClr val="475569"/>
                </a:solidFill>
                <a:latin typeface="Lato"/>
                <a:ea typeface="Lato"/>
                <a:cs typeface="Lato"/>
                <a:sym typeface="Lato"/>
              </a:rPr>
              <a:t>, and a peak of </a:t>
            </a:r>
            <a:r>
              <a:rPr b="1" i="0" lang="en-US" sz="1012" u="none" cap="none" strike="noStrike">
                <a:solidFill>
                  <a:srgbClr val="475569"/>
                </a:solidFill>
                <a:latin typeface="Lato"/>
                <a:ea typeface="Lato"/>
                <a:cs typeface="Lato"/>
                <a:sym typeface="Lato"/>
              </a:rPr>
              <a:t>77.78%</a:t>
            </a:r>
            <a:r>
              <a:rPr b="0" i="0" lang="en-US" sz="1012" u="none" cap="none" strike="noStrike">
                <a:solidFill>
                  <a:srgbClr val="475569"/>
                </a:solidFill>
                <a:latin typeface="Lato"/>
                <a:ea typeface="Lato"/>
                <a:cs typeface="Lato"/>
                <a:sym typeface="Lato"/>
              </a:rPr>
              <a:t> between 20 to 36 years post-promotion, linking long-term stagnation directly to exits.</a:t>
            </a:r>
            <a:endParaRPr/>
          </a:p>
        </p:txBody>
      </p:sp>
      <p:sp>
        <p:nvSpPr>
          <p:cNvPr id="276" name="Google Shape;276;p21"/>
          <p:cNvSpPr txBox="1"/>
          <p:nvPr/>
        </p:nvSpPr>
        <p:spPr>
          <a:xfrm>
            <a:off x="8952607" y="1548705"/>
            <a:ext cx="2391236"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Poppins SemiBold"/>
                <a:ea typeface="Poppins SemiBold"/>
                <a:cs typeface="Poppins SemiBold"/>
                <a:sym typeface="Poppins SemiBold"/>
              </a:rPr>
              <a:t>Institutional Knowledge Drain</a:t>
            </a:r>
            <a:endParaRPr/>
          </a:p>
        </p:txBody>
      </p:sp>
      <p:sp>
        <p:nvSpPr>
          <p:cNvPr id="277" name="Google Shape;277;p21"/>
          <p:cNvSpPr txBox="1"/>
          <p:nvPr/>
        </p:nvSpPr>
        <p:spPr>
          <a:xfrm>
            <a:off x="8743057" y="2101155"/>
            <a:ext cx="2486917" cy="931664"/>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Lato"/>
                <a:ea typeface="Lato"/>
                <a:cs typeface="Lato"/>
                <a:sym typeface="Lato"/>
              </a:rPr>
              <a:t>Because the average working years prior to attrition cluster around </a:t>
            </a:r>
            <a:r>
              <a:rPr b="1" i="0" lang="en-US" sz="1012" u="none" cap="none" strike="noStrike">
                <a:solidFill>
                  <a:srgbClr val="475569"/>
                </a:solidFill>
                <a:latin typeface="Lato"/>
                <a:ea typeface="Lato"/>
                <a:cs typeface="Lato"/>
                <a:sym typeface="Lato"/>
              </a:rPr>
              <a:t>20.5 years</a:t>
            </a:r>
            <a:r>
              <a:rPr b="0" i="0" lang="en-US" sz="1012" u="none" cap="none" strike="noStrike">
                <a:solidFill>
                  <a:srgbClr val="475569"/>
                </a:solidFill>
                <a:latin typeface="Lato"/>
                <a:ea typeface="Lato"/>
                <a:cs typeface="Lato"/>
                <a:sym typeface="Lato"/>
              </a:rPr>
              <a:t> (led by Software at 20.65 and Sales at 20.62), departing personnel actively drain decades of legacy operational intelligence.</a:t>
            </a:r>
            <a:endParaRPr/>
          </a:p>
        </p:txBody>
      </p:sp>
      <p:sp>
        <p:nvSpPr>
          <p:cNvPr id="278" name="Google Shape;278;p21"/>
          <p:cNvSpPr txBox="1"/>
          <p:nvPr/>
        </p:nvSpPr>
        <p:spPr>
          <a:xfrm>
            <a:off x="5913387" y="4112865"/>
            <a:ext cx="2351075"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Poppins SemiBold"/>
                <a:ea typeface="Poppins SemiBold"/>
                <a:cs typeface="Poppins SemiBold"/>
                <a:sym typeface="Poppins SemiBold"/>
              </a:rPr>
              <a:t>Leadership Succession Deficit</a:t>
            </a:r>
            <a:endParaRPr/>
          </a:p>
        </p:txBody>
      </p:sp>
      <p:sp>
        <p:nvSpPr>
          <p:cNvPr id="279" name="Google Shape;279;p21"/>
          <p:cNvSpPr txBox="1"/>
          <p:nvPr/>
        </p:nvSpPr>
        <p:spPr>
          <a:xfrm>
            <a:off x="5665737" y="4665315"/>
            <a:ext cx="2486769" cy="931664"/>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Lato"/>
                <a:ea typeface="Lato"/>
                <a:cs typeface="Lato"/>
                <a:sym typeface="Lato"/>
              </a:rPr>
              <a:t>With an organization-wide Average Age of </a:t>
            </a:r>
            <a:r>
              <a:rPr b="1" i="0" lang="en-US" sz="1012" u="none" cap="none" strike="noStrike">
                <a:solidFill>
                  <a:srgbClr val="475569"/>
                </a:solidFill>
                <a:latin typeface="Lato"/>
                <a:ea typeface="Lato"/>
                <a:cs typeface="Lato"/>
                <a:sym typeface="Lato"/>
              </a:rPr>
              <a:t>39</a:t>
            </a:r>
            <a:r>
              <a:rPr b="0" i="0" lang="en-US" sz="1012" u="none" cap="none" strike="noStrike">
                <a:solidFill>
                  <a:srgbClr val="475569"/>
                </a:solidFill>
                <a:latin typeface="Lato"/>
                <a:ea typeface="Lato"/>
                <a:cs typeface="Lato"/>
                <a:sym typeface="Lato"/>
              </a:rPr>
              <a:t>, losing employees who possess over 20 years of experience severely shrinks the internal talent pool, creating an immediate gap for future senior leadership roles.</a:t>
            </a:r>
            <a:endParaRPr/>
          </a:p>
        </p:txBody>
      </p:sp>
      <p:sp>
        <p:nvSpPr>
          <p:cNvPr id="280" name="Google Shape;280;p21"/>
          <p:cNvSpPr txBox="1"/>
          <p:nvPr/>
        </p:nvSpPr>
        <p:spPr>
          <a:xfrm>
            <a:off x="8952607" y="4112865"/>
            <a:ext cx="2391236"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Poppins SemiBold"/>
                <a:ea typeface="Poppins SemiBold"/>
                <a:cs typeface="Poppins SemiBold"/>
                <a:sym typeface="Poppins SemiBold"/>
              </a:rPr>
              <a:t>Role-Specific Cultural Variation</a:t>
            </a:r>
            <a:endParaRPr/>
          </a:p>
        </p:txBody>
      </p:sp>
      <p:sp>
        <p:nvSpPr>
          <p:cNvPr id="281" name="Google Shape;281;p21"/>
          <p:cNvSpPr txBox="1"/>
          <p:nvPr/>
        </p:nvSpPr>
        <p:spPr>
          <a:xfrm>
            <a:off x="8743057" y="4665315"/>
            <a:ext cx="2486917" cy="931664"/>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Lato"/>
                <a:ea typeface="Lato"/>
                <a:cs typeface="Lato"/>
                <a:sym typeface="Lato"/>
              </a:rPr>
              <a:t>While roles like </a:t>
            </a:r>
            <a:r>
              <a:rPr b="1" i="0" lang="en-US" sz="1012" u="none" cap="none" strike="noStrike">
                <a:solidFill>
                  <a:srgbClr val="475569"/>
                </a:solidFill>
                <a:latin typeface="Lato"/>
                <a:ea typeface="Lato"/>
                <a:cs typeface="Lato"/>
                <a:sym typeface="Lato"/>
              </a:rPr>
              <a:t>Sales Executive</a:t>
            </a:r>
            <a:r>
              <a:rPr b="0" i="0" lang="en-US" sz="1012" u="none" cap="none" strike="noStrike">
                <a:solidFill>
                  <a:srgbClr val="475569"/>
                </a:solidFill>
                <a:latin typeface="Lato"/>
                <a:ea typeface="Lato"/>
                <a:cs typeface="Lato"/>
                <a:sym typeface="Lato"/>
              </a:rPr>
              <a:t> score the lowest in Work-Life Balance at </a:t>
            </a:r>
            <a:r>
              <a:rPr b="1" i="0" lang="en-US" sz="1012" u="none" cap="none" strike="noStrike">
                <a:solidFill>
                  <a:srgbClr val="475569"/>
                </a:solidFill>
                <a:latin typeface="Lato"/>
                <a:ea typeface="Lato"/>
                <a:cs typeface="Lato"/>
                <a:sym typeface="Lato"/>
              </a:rPr>
              <a:t>2.47</a:t>
            </a:r>
            <a:r>
              <a:rPr b="0" i="0" lang="en-US" sz="1012" u="none" cap="none" strike="noStrike">
                <a:solidFill>
                  <a:srgbClr val="475569"/>
                </a:solidFill>
                <a:latin typeface="Lato"/>
                <a:ea typeface="Lato"/>
                <a:cs typeface="Lato"/>
                <a:sym typeface="Lato"/>
              </a:rPr>
              <a:t>, technical roles like </a:t>
            </a:r>
            <a:r>
              <a:rPr b="1" i="0" lang="en-US" sz="1012" u="none" cap="none" strike="noStrike">
                <a:solidFill>
                  <a:srgbClr val="475569"/>
                </a:solidFill>
                <a:latin typeface="Lato"/>
                <a:ea typeface="Lato"/>
                <a:cs typeface="Lato"/>
                <a:sym typeface="Lato"/>
              </a:rPr>
              <a:t>Research Scientists</a:t>
            </a:r>
            <a:r>
              <a:rPr b="0" i="0" lang="en-US" sz="1012" u="none" cap="none" strike="noStrike">
                <a:solidFill>
                  <a:srgbClr val="475569"/>
                </a:solidFill>
                <a:latin typeface="Lato"/>
                <a:ea typeface="Lato"/>
                <a:cs typeface="Lato"/>
                <a:sym typeface="Lato"/>
              </a:rPr>
              <a:t> and </a:t>
            </a:r>
            <a:r>
              <a:rPr b="1" i="0" lang="en-US" sz="1012" u="none" cap="none" strike="noStrike">
                <a:solidFill>
                  <a:srgbClr val="475569"/>
                </a:solidFill>
                <a:latin typeface="Lato"/>
                <a:ea typeface="Lato"/>
                <a:cs typeface="Lato"/>
                <a:sym typeface="Lato"/>
              </a:rPr>
              <a:t>Developers</a:t>
            </a:r>
            <a:r>
              <a:rPr b="0" i="0" lang="en-US" sz="1012" u="none" cap="none" strike="noStrike">
                <a:solidFill>
                  <a:srgbClr val="475569"/>
                </a:solidFill>
                <a:latin typeface="Lato"/>
                <a:ea typeface="Lato"/>
                <a:cs typeface="Lato"/>
                <a:sym typeface="Lato"/>
              </a:rPr>
              <a:t> hover slightly higher at </a:t>
            </a:r>
            <a:r>
              <a:rPr b="1" i="0" lang="en-US" sz="1012" u="none" cap="none" strike="noStrike">
                <a:solidFill>
                  <a:srgbClr val="475569"/>
                </a:solidFill>
                <a:latin typeface="Lato"/>
                <a:ea typeface="Lato"/>
                <a:cs typeface="Lato"/>
                <a:sym typeface="Lato"/>
              </a:rPr>
              <a:t>2.51</a:t>
            </a:r>
            <a:r>
              <a:rPr b="0" i="0" lang="en-US" sz="1012" u="none" cap="none" strike="noStrike">
                <a:solidFill>
                  <a:srgbClr val="475569"/>
                </a:solidFill>
                <a:latin typeface="Lato"/>
                <a:ea typeface="Lato"/>
                <a:cs typeface="Lato"/>
                <a:sym typeface="Lato"/>
              </a:rPr>
              <a:t>, requiring targeted cultural initiatives.</a:t>
            </a:r>
            <a:endParaRPr/>
          </a:p>
        </p:txBody>
      </p:sp>
      <p:pic>
        <p:nvPicPr>
          <p:cNvPr descr="image.png" id="282" name="Google Shape;282;p21"/>
          <p:cNvPicPr preferRelativeResize="0"/>
          <p:nvPr/>
        </p:nvPicPr>
        <p:blipFill rotWithShape="1">
          <a:blip r:embed="rId12">
            <a:alphaModFix/>
          </a:blip>
          <a:srcRect b="0" l="0" r="0" t="0"/>
          <a:stretch/>
        </p:blipFill>
        <p:spPr>
          <a:xfrm>
            <a:off x="1181100" y="3680817"/>
            <a:ext cx="180975" cy="142875"/>
          </a:xfrm>
          <a:prstGeom prst="rect">
            <a:avLst/>
          </a:prstGeom>
          <a:noFill/>
          <a:ln>
            <a:noFill/>
          </a:ln>
        </p:spPr>
      </p:pic>
      <p:pic>
        <p:nvPicPr>
          <p:cNvPr descr="image.png" id="283" name="Google Shape;283;p21"/>
          <p:cNvPicPr preferRelativeResize="0"/>
          <p:nvPr/>
        </p:nvPicPr>
        <p:blipFill rotWithShape="1">
          <a:blip r:embed="rId13">
            <a:alphaModFix/>
          </a:blip>
          <a:srcRect b="0" l="0" r="0" t="0"/>
          <a:stretch/>
        </p:blipFill>
        <p:spPr>
          <a:xfrm>
            <a:off x="1181100" y="4118967"/>
            <a:ext cx="180975" cy="142875"/>
          </a:xfrm>
          <a:prstGeom prst="rect">
            <a:avLst/>
          </a:prstGeom>
          <a:noFill/>
          <a:ln>
            <a:noFill/>
          </a:ln>
        </p:spPr>
      </p:pic>
      <p:pic>
        <p:nvPicPr>
          <p:cNvPr descr="image.png" id="284" name="Google Shape;284;p21"/>
          <p:cNvPicPr preferRelativeResize="0"/>
          <p:nvPr/>
        </p:nvPicPr>
        <p:blipFill rotWithShape="1">
          <a:blip r:embed="rId14">
            <a:alphaModFix/>
          </a:blip>
          <a:srcRect b="0" l="0" r="0" t="0"/>
          <a:stretch/>
        </p:blipFill>
        <p:spPr>
          <a:xfrm>
            <a:off x="1181100" y="4557117"/>
            <a:ext cx="114300" cy="142875"/>
          </a:xfrm>
          <a:prstGeom prst="rect">
            <a:avLst/>
          </a:prstGeom>
          <a:noFill/>
          <a:ln>
            <a:noFill/>
          </a:ln>
        </p:spPr>
      </p:pic>
      <p:pic>
        <p:nvPicPr>
          <p:cNvPr descr="image.png" id="285" name="Google Shape;285;p21"/>
          <p:cNvPicPr preferRelativeResize="0"/>
          <p:nvPr/>
        </p:nvPicPr>
        <p:blipFill rotWithShape="1">
          <a:blip r:embed="rId15">
            <a:alphaModFix/>
          </a:blip>
          <a:srcRect b="0" l="0" r="0" t="0"/>
          <a:stretch/>
        </p:blipFill>
        <p:spPr>
          <a:xfrm>
            <a:off x="5665737" y="1720155"/>
            <a:ext cx="152400" cy="133350"/>
          </a:xfrm>
          <a:prstGeom prst="rect">
            <a:avLst/>
          </a:prstGeom>
          <a:noFill/>
          <a:ln>
            <a:noFill/>
          </a:ln>
        </p:spPr>
      </p:pic>
      <p:pic>
        <p:nvPicPr>
          <p:cNvPr descr="image.png" id="286" name="Google Shape;286;p21"/>
          <p:cNvPicPr preferRelativeResize="0"/>
          <p:nvPr/>
        </p:nvPicPr>
        <p:blipFill rotWithShape="1">
          <a:blip r:embed="rId16">
            <a:alphaModFix/>
          </a:blip>
          <a:srcRect b="0" l="0" r="0" t="0"/>
          <a:stretch/>
        </p:blipFill>
        <p:spPr>
          <a:xfrm>
            <a:off x="8743057" y="1720155"/>
            <a:ext cx="133350" cy="133350"/>
          </a:xfrm>
          <a:prstGeom prst="rect">
            <a:avLst/>
          </a:prstGeom>
          <a:noFill/>
          <a:ln>
            <a:noFill/>
          </a:ln>
        </p:spPr>
      </p:pic>
      <p:pic>
        <p:nvPicPr>
          <p:cNvPr descr="image.png" id="287" name="Google Shape;287;p21"/>
          <p:cNvPicPr preferRelativeResize="0"/>
          <p:nvPr/>
        </p:nvPicPr>
        <p:blipFill rotWithShape="1">
          <a:blip r:embed="rId17">
            <a:alphaModFix/>
          </a:blip>
          <a:srcRect b="0" l="0" r="0" t="0"/>
          <a:stretch/>
        </p:blipFill>
        <p:spPr>
          <a:xfrm>
            <a:off x="5665737" y="4284315"/>
            <a:ext cx="171450" cy="133350"/>
          </a:xfrm>
          <a:prstGeom prst="rect">
            <a:avLst/>
          </a:prstGeom>
          <a:noFill/>
          <a:ln>
            <a:noFill/>
          </a:ln>
        </p:spPr>
      </p:pic>
      <p:pic>
        <p:nvPicPr>
          <p:cNvPr descr="image.png" id="288" name="Google Shape;288;p21"/>
          <p:cNvPicPr preferRelativeResize="0"/>
          <p:nvPr/>
        </p:nvPicPr>
        <p:blipFill rotWithShape="1">
          <a:blip r:embed="rId18">
            <a:alphaModFix/>
          </a:blip>
          <a:srcRect b="0" l="0" r="0" t="0"/>
          <a:stretch/>
        </p:blipFill>
        <p:spPr>
          <a:xfrm>
            <a:off x="8743057" y="4284315"/>
            <a:ext cx="133350" cy="133350"/>
          </a:xfrm>
          <a:prstGeom prst="rect">
            <a:avLst/>
          </a:prstGeom>
          <a:noFill/>
          <a:ln>
            <a:noFill/>
          </a:ln>
        </p:spPr>
      </p:pic>
      <p:sp>
        <p:nvSpPr>
          <p:cNvPr id="289" name="Google Shape;289;p21"/>
          <p:cNvSpPr txBox="1"/>
          <p:nvPr/>
        </p:nvSpPr>
        <p:spPr>
          <a:xfrm>
            <a:off x="904875" y="628650"/>
            <a:ext cx="11051381"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850" u="none" cap="none" strike="noStrike">
                <a:solidFill>
                  <a:srgbClr val="0F172A"/>
                </a:solidFill>
                <a:latin typeface="Poppins SemiBold"/>
                <a:ea typeface="Poppins SemiBold"/>
                <a:cs typeface="Poppins SemiBold"/>
                <a:sym typeface="Poppins SemiBold"/>
              </a:rPr>
              <a:t>Observations from the Data</a:t>
            </a:r>
            <a:endParaRPr/>
          </a:p>
        </p:txBody>
      </p:sp>
      <p:sp>
        <p:nvSpPr>
          <p:cNvPr id="290" name="Google Shape;290;p21"/>
          <p:cNvSpPr/>
          <p:nvPr/>
        </p:nvSpPr>
        <p:spPr>
          <a:xfrm>
            <a:off x="762000" y="628650"/>
            <a:ext cx="47625" cy="43428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91" name="Google Shape;291;p21"/>
          <p:cNvPicPr preferRelativeResize="0"/>
          <p:nvPr/>
        </p:nvPicPr>
        <p:blipFill rotWithShape="1">
          <a:blip r:embed="rId19">
            <a:alphaModFix/>
          </a:blip>
          <a:srcRect b="0" l="-7960" r="7960" t="0"/>
          <a:stretch/>
        </p:blipFill>
        <p:spPr>
          <a:xfrm>
            <a:off x="1129775" y="3559375"/>
            <a:ext cx="3743825" cy="342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5" name="Shape 295"/>
        <p:cNvGrpSpPr/>
        <p:nvPr/>
      </p:nvGrpSpPr>
      <p:grpSpPr>
        <a:xfrm>
          <a:off x="0" y="0"/>
          <a:ext cx="0" cy="0"/>
          <a:chOff x="0" y="0"/>
          <a:chExt cx="0" cy="0"/>
        </a:xfrm>
      </p:grpSpPr>
      <p:pic>
        <p:nvPicPr>
          <p:cNvPr descr="image.png" id="296" name="Google Shape;296;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7" name="Google Shape;297;p22"/>
          <p:cNvPicPr preferRelativeResize="0"/>
          <p:nvPr/>
        </p:nvPicPr>
        <p:blipFill rotWithShape="1">
          <a:blip r:embed="rId4">
            <a:alphaModFix/>
          </a:blip>
          <a:srcRect b="0" l="0" r="0" t="0"/>
          <a:stretch/>
        </p:blipFill>
        <p:spPr>
          <a:xfrm>
            <a:off x="762000" y="1348680"/>
            <a:ext cx="4377332" cy="4191000"/>
          </a:xfrm>
          <a:prstGeom prst="rect">
            <a:avLst/>
          </a:prstGeom>
          <a:noFill/>
          <a:ln>
            <a:noFill/>
          </a:ln>
        </p:spPr>
      </p:pic>
      <p:pic>
        <p:nvPicPr>
          <p:cNvPr descr="image.png" id="298" name="Google Shape;298;p22"/>
          <p:cNvPicPr preferRelativeResize="0"/>
          <p:nvPr/>
        </p:nvPicPr>
        <p:blipFill rotWithShape="1">
          <a:blip r:embed="rId5">
            <a:alphaModFix/>
          </a:blip>
          <a:srcRect b="0" l="0" r="0" t="0"/>
          <a:stretch/>
        </p:blipFill>
        <p:spPr>
          <a:xfrm>
            <a:off x="1057275" y="4068514"/>
            <a:ext cx="3786782" cy="657225"/>
          </a:xfrm>
          <a:prstGeom prst="rect">
            <a:avLst/>
          </a:prstGeom>
          <a:noFill/>
          <a:ln>
            <a:noFill/>
          </a:ln>
        </p:spPr>
      </p:pic>
      <p:pic>
        <p:nvPicPr>
          <p:cNvPr descr="image.png" id="299" name="Google Shape;299;p22"/>
          <p:cNvPicPr preferRelativeResize="0"/>
          <p:nvPr/>
        </p:nvPicPr>
        <p:blipFill rotWithShape="1">
          <a:blip r:embed="rId6">
            <a:alphaModFix/>
          </a:blip>
          <a:srcRect b="0" l="0" r="0" t="0"/>
          <a:stretch/>
        </p:blipFill>
        <p:spPr>
          <a:xfrm>
            <a:off x="762000" y="571500"/>
            <a:ext cx="10668000" cy="57150"/>
          </a:xfrm>
          <a:prstGeom prst="rect">
            <a:avLst/>
          </a:prstGeom>
          <a:noFill/>
          <a:ln>
            <a:noFill/>
          </a:ln>
        </p:spPr>
      </p:pic>
      <p:sp>
        <p:nvSpPr>
          <p:cNvPr id="300" name="Google Shape;300;p22"/>
          <p:cNvSpPr txBox="1"/>
          <p:nvPr/>
        </p:nvSpPr>
        <p:spPr>
          <a:xfrm>
            <a:off x="1057275" y="2162621"/>
            <a:ext cx="3786782"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0D9488"/>
                </a:solidFill>
                <a:latin typeface="Poppins SemiBold"/>
                <a:ea typeface="Poppins SemiBold"/>
                <a:cs typeface="Poppins SemiBold"/>
                <a:sym typeface="Poppins SemiBold"/>
              </a:rPr>
              <a:t>DATA-DRIVEN INTERVENTIONS</a:t>
            </a:r>
            <a:endParaRPr/>
          </a:p>
        </p:txBody>
      </p:sp>
      <p:sp>
        <p:nvSpPr>
          <p:cNvPr id="301" name="Google Shape;301;p22"/>
          <p:cNvSpPr txBox="1"/>
          <p:nvPr/>
        </p:nvSpPr>
        <p:spPr>
          <a:xfrm>
            <a:off x="1057275" y="2448371"/>
            <a:ext cx="3976121" cy="6438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1950" u="none" cap="none" strike="noStrike">
                <a:solidFill>
                  <a:srgbClr val="0F172A"/>
                </a:solidFill>
                <a:latin typeface="Poppins"/>
                <a:ea typeface="Poppins"/>
                <a:cs typeface="Poppins"/>
                <a:sym typeface="Poppins"/>
              </a:rPr>
              <a:t>Transforming Data into Retention Plans</a:t>
            </a:r>
            <a:endParaRPr/>
          </a:p>
        </p:txBody>
      </p:sp>
      <p:sp>
        <p:nvSpPr>
          <p:cNvPr id="302" name="Google Shape;302;p22"/>
          <p:cNvSpPr txBox="1"/>
          <p:nvPr/>
        </p:nvSpPr>
        <p:spPr>
          <a:xfrm>
            <a:off x="1057275" y="3235076"/>
            <a:ext cx="3786782"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Lato"/>
                <a:ea typeface="Lato"/>
                <a:cs typeface="Lato"/>
                <a:sym typeface="Lato"/>
              </a:rPr>
              <a:t>By translating critical turnover drivers into focused retention frameworks, leadership can actively target high-risk attrition and safeguard our core talent pool.</a:t>
            </a:r>
            <a:endParaRPr/>
          </a:p>
        </p:txBody>
      </p:sp>
      <p:sp>
        <p:nvSpPr>
          <p:cNvPr id="303" name="Google Shape;303;p22"/>
          <p:cNvSpPr txBox="1"/>
          <p:nvPr/>
        </p:nvSpPr>
        <p:spPr>
          <a:xfrm>
            <a:off x="1129770" y="4312036"/>
            <a:ext cx="2001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D9488"/>
                </a:solidFill>
                <a:latin typeface="Poppins"/>
                <a:ea typeface="Poppins"/>
                <a:cs typeface="Poppins"/>
                <a:sym typeface="Poppins"/>
              </a:rPr>
              <a:t>5</a:t>
            </a:r>
            <a:endParaRPr/>
          </a:p>
        </p:txBody>
      </p:sp>
      <p:sp>
        <p:nvSpPr>
          <p:cNvPr id="304" name="Google Shape;304;p22"/>
          <p:cNvSpPr txBox="1"/>
          <p:nvPr/>
        </p:nvSpPr>
        <p:spPr>
          <a:xfrm>
            <a:off x="1400175" y="4410521"/>
            <a:ext cx="3171825" cy="173235"/>
          </a:xfrm>
          <a:prstGeom prst="rect">
            <a:avLst/>
          </a:prstGeom>
          <a:noFill/>
          <a:ln>
            <a:noFill/>
          </a:ln>
        </p:spPr>
        <p:txBody>
          <a:bodyPr anchorCtr="0" anchor="t" bIns="0" lIns="0" spcFirstLastPara="1" rIns="0" wrap="square" tIns="0">
            <a:spAutoFit/>
          </a:bodyPr>
          <a:lstStyle/>
          <a:p>
            <a:pPr indent="0" lvl="0" marL="0" marR="0" rtl="0" algn="l">
              <a:lnSpc>
                <a:spcPct val="129904"/>
              </a:lnSpc>
              <a:spcBef>
                <a:spcPts val="0"/>
              </a:spcBef>
              <a:spcAft>
                <a:spcPts val="0"/>
              </a:spcAft>
              <a:buNone/>
            </a:pPr>
            <a:r>
              <a:rPr b="0" i="0" lang="en-US" sz="1050" u="none" cap="none" strike="noStrike">
                <a:solidFill>
                  <a:srgbClr val="0F172A"/>
                </a:solidFill>
                <a:latin typeface="Lato"/>
                <a:ea typeface="Lato"/>
                <a:cs typeface="Lato"/>
                <a:sym typeface="Lato"/>
              </a:rPr>
              <a:t>High-Impact Actionable Suggestions for the Company</a:t>
            </a:r>
            <a:endParaRPr/>
          </a:p>
        </p:txBody>
      </p:sp>
      <p:sp>
        <p:nvSpPr>
          <p:cNvPr id="305" name="Google Shape;305;p22"/>
          <p:cNvSpPr txBox="1"/>
          <p:nvPr/>
        </p:nvSpPr>
        <p:spPr>
          <a:xfrm>
            <a:off x="5948957" y="1348680"/>
            <a:ext cx="5481042" cy="621506"/>
          </a:xfrm>
          <a:prstGeom prst="rect">
            <a:avLst/>
          </a:prstGeom>
          <a:noFill/>
          <a:ln>
            <a:noFill/>
          </a:ln>
        </p:spPr>
        <p:txBody>
          <a:bodyPr anchorCtr="0" anchor="t" bIns="0" lIns="0" spcFirstLastPara="1" rIns="0" wrap="square" tIns="0">
            <a:spAutoFit/>
          </a:bodyPr>
          <a:lstStyle/>
          <a:p>
            <a:pPr indent="0" lvl="0" marL="0" marR="0" rtl="0" algn="l">
              <a:lnSpc>
                <a:spcPct val="144977"/>
              </a:lnSpc>
              <a:spcBef>
                <a:spcPts val="0"/>
              </a:spcBef>
              <a:spcAft>
                <a:spcPts val="0"/>
              </a:spcAft>
              <a:buNone/>
            </a:pPr>
            <a:r>
              <a:rPr b="1" i="0" lang="en-US" sz="1125" u="none" cap="none" strike="noStrike">
                <a:solidFill>
                  <a:srgbClr val="0F172A"/>
                </a:solidFill>
                <a:latin typeface="Lato"/>
                <a:ea typeface="Lato"/>
                <a:cs typeface="Lato"/>
                <a:sym typeface="Lato"/>
              </a:rPr>
              <a:t>Targeted "Tenure-Risk" Check-ins:</a:t>
            </a:r>
            <a:r>
              <a:rPr b="0" i="0" lang="en-US" sz="1125" u="none" cap="none" strike="noStrike">
                <a:solidFill>
                  <a:srgbClr val="475569"/>
                </a:solidFill>
                <a:latin typeface="Lato"/>
                <a:ea typeface="Lato"/>
                <a:cs typeface="Lato"/>
                <a:sym typeface="Lato"/>
              </a:rPr>
              <a:t> Trigger stay interviews 30–60 days before critical milestones where turnover pressure builds (specifically targeting 15–20 year working thresholds).</a:t>
            </a:r>
            <a:endParaRPr/>
          </a:p>
        </p:txBody>
      </p:sp>
      <p:sp>
        <p:nvSpPr>
          <p:cNvPr id="306" name="Google Shape;306;p22"/>
          <p:cNvSpPr txBox="1"/>
          <p:nvPr/>
        </p:nvSpPr>
        <p:spPr>
          <a:xfrm>
            <a:off x="5948957" y="2241053"/>
            <a:ext cx="5481042" cy="621506"/>
          </a:xfrm>
          <a:prstGeom prst="rect">
            <a:avLst/>
          </a:prstGeom>
          <a:noFill/>
          <a:ln>
            <a:noFill/>
          </a:ln>
        </p:spPr>
        <p:txBody>
          <a:bodyPr anchorCtr="0" anchor="t" bIns="0" lIns="0" spcFirstLastPara="1" rIns="0" wrap="square" tIns="0">
            <a:spAutoFit/>
          </a:bodyPr>
          <a:lstStyle/>
          <a:p>
            <a:pPr indent="0" lvl="0" marL="0" marR="0" rtl="0" algn="l">
              <a:lnSpc>
                <a:spcPct val="144977"/>
              </a:lnSpc>
              <a:spcBef>
                <a:spcPts val="0"/>
              </a:spcBef>
              <a:spcAft>
                <a:spcPts val="0"/>
              </a:spcAft>
              <a:buNone/>
            </a:pPr>
            <a:r>
              <a:rPr b="1" i="0" lang="en-US" sz="1125" u="none" cap="none" strike="noStrike">
                <a:solidFill>
                  <a:srgbClr val="0F172A"/>
                </a:solidFill>
                <a:latin typeface="Lato"/>
                <a:ea typeface="Lato"/>
                <a:cs typeface="Lato"/>
                <a:sym typeface="Lato"/>
              </a:rPr>
              <a:t>Stagnation Breakout Framework:</a:t>
            </a:r>
            <a:r>
              <a:rPr b="0" i="0" lang="en-US" sz="1125" u="none" cap="none" strike="noStrike">
                <a:solidFill>
                  <a:srgbClr val="475569"/>
                </a:solidFill>
                <a:latin typeface="Lato"/>
                <a:ea typeface="Lato"/>
                <a:cs typeface="Lato"/>
                <a:sym typeface="Lato"/>
              </a:rPr>
              <a:t> Address promotion-related attrition spikes (up to 77.78%) by introducing horizontal career path rotations for personnel exceeding a 15-year promotion freeze.</a:t>
            </a:r>
            <a:endParaRPr/>
          </a:p>
        </p:txBody>
      </p:sp>
      <p:sp>
        <p:nvSpPr>
          <p:cNvPr id="307" name="Google Shape;307;p22"/>
          <p:cNvSpPr txBox="1"/>
          <p:nvPr/>
        </p:nvSpPr>
        <p:spPr>
          <a:xfrm>
            <a:off x="5948957" y="3133427"/>
            <a:ext cx="5481042" cy="621506"/>
          </a:xfrm>
          <a:prstGeom prst="rect">
            <a:avLst/>
          </a:prstGeom>
          <a:noFill/>
          <a:ln>
            <a:noFill/>
          </a:ln>
        </p:spPr>
        <p:txBody>
          <a:bodyPr anchorCtr="0" anchor="t" bIns="0" lIns="0" spcFirstLastPara="1" rIns="0" wrap="square" tIns="0">
            <a:spAutoFit/>
          </a:bodyPr>
          <a:lstStyle/>
          <a:p>
            <a:pPr indent="0" lvl="0" marL="0" marR="0" rtl="0" algn="l">
              <a:lnSpc>
                <a:spcPct val="144977"/>
              </a:lnSpc>
              <a:spcBef>
                <a:spcPts val="0"/>
              </a:spcBef>
              <a:spcAft>
                <a:spcPts val="0"/>
              </a:spcAft>
              <a:buNone/>
            </a:pPr>
            <a:r>
              <a:rPr b="1" i="0" lang="en-US" sz="1125" u="none" cap="none" strike="noStrike">
                <a:solidFill>
                  <a:srgbClr val="0F172A"/>
                </a:solidFill>
                <a:latin typeface="Lato"/>
                <a:ea typeface="Lato"/>
                <a:cs typeface="Lato"/>
                <a:sym typeface="Lato"/>
              </a:rPr>
              <a:t>Deploy Executive Retention Packages:</a:t>
            </a:r>
            <a:r>
              <a:rPr b="0" i="0" lang="en-US" sz="1125" u="none" cap="none" strike="noStrike">
                <a:solidFill>
                  <a:srgbClr val="475569"/>
                </a:solidFill>
                <a:latin typeface="Lato"/>
                <a:ea typeface="Lato"/>
                <a:cs typeface="Lato"/>
                <a:sym typeface="Lato"/>
              </a:rPr>
              <a:t> Counter the 50.89%–51.26% high-earner turnover with non-monetary incentives like equity, long-term care sabbaticals, and enhanced autonomy.</a:t>
            </a:r>
            <a:endParaRPr/>
          </a:p>
        </p:txBody>
      </p:sp>
      <p:sp>
        <p:nvSpPr>
          <p:cNvPr id="308" name="Google Shape;308;p22"/>
          <p:cNvSpPr txBox="1"/>
          <p:nvPr/>
        </p:nvSpPr>
        <p:spPr>
          <a:xfrm>
            <a:off x="5948957" y="4025800"/>
            <a:ext cx="5481042" cy="621506"/>
          </a:xfrm>
          <a:prstGeom prst="rect">
            <a:avLst/>
          </a:prstGeom>
          <a:noFill/>
          <a:ln>
            <a:noFill/>
          </a:ln>
        </p:spPr>
        <p:txBody>
          <a:bodyPr anchorCtr="0" anchor="t" bIns="0" lIns="0" spcFirstLastPara="1" rIns="0" wrap="square" tIns="0">
            <a:spAutoFit/>
          </a:bodyPr>
          <a:lstStyle/>
          <a:p>
            <a:pPr indent="0" lvl="0" marL="0" marR="0" rtl="0" algn="l">
              <a:lnSpc>
                <a:spcPct val="144977"/>
              </a:lnSpc>
              <a:spcBef>
                <a:spcPts val="0"/>
              </a:spcBef>
              <a:spcAft>
                <a:spcPts val="0"/>
              </a:spcAft>
              <a:buNone/>
            </a:pPr>
            <a:r>
              <a:rPr b="1" i="0" lang="en-US" sz="1125" u="none" cap="none" strike="noStrike">
                <a:solidFill>
                  <a:srgbClr val="0F172A"/>
                </a:solidFill>
                <a:latin typeface="Lato"/>
                <a:ea typeface="Lato"/>
                <a:cs typeface="Lato"/>
                <a:sym typeface="Lato"/>
              </a:rPr>
              <a:t>Localized Work-Life Interventions:</a:t>
            </a:r>
            <a:r>
              <a:rPr b="0" i="0" lang="en-US" sz="1125" u="none" cap="none" strike="noStrike">
                <a:solidFill>
                  <a:srgbClr val="475569"/>
                </a:solidFill>
                <a:latin typeface="Lato"/>
                <a:ea typeface="Lato"/>
                <a:cs typeface="Lato"/>
                <a:sym typeface="Lato"/>
              </a:rPr>
              <a:t> Support low Work-Life scoring roles—specifically Sales Executives (2.47) and Lab Technicians (2.49)—with mandatory rest cycles and hybrid structures.</a:t>
            </a:r>
            <a:endParaRPr/>
          </a:p>
        </p:txBody>
      </p:sp>
      <p:sp>
        <p:nvSpPr>
          <p:cNvPr id="309" name="Google Shape;309;p22"/>
          <p:cNvSpPr txBox="1"/>
          <p:nvPr/>
        </p:nvSpPr>
        <p:spPr>
          <a:xfrm>
            <a:off x="5948957" y="4918174"/>
            <a:ext cx="5481042" cy="621506"/>
          </a:xfrm>
          <a:prstGeom prst="rect">
            <a:avLst/>
          </a:prstGeom>
          <a:noFill/>
          <a:ln>
            <a:noFill/>
          </a:ln>
        </p:spPr>
        <p:txBody>
          <a:bodyPr anchorCtr="0" anchor="t" bIns="0" lIns="0" spcFirstLastPara="1" rIns="0" wrap="square" tIns="0">
            <a:spAutoFit/>
          </a:bodyPr>
          <a:lstStyle/>
          <a:p>
            <a:pPr indent="0" lvl="0" marL="0" marR="0" rtl="0" algn="l">
              <a:lnSpc>
                <a:spcPct val="144977"/>
              </a:lnSpc>
              <a:spcBef>
                <a:spcPts val="0"/>
              </a:spcBef>
              <a:spcAft>
                <a:spcPts val="0"/>
              </a:spcAft>
              <a:buNone/>
            </a:pPr>
            <a:r>
              <a:rPr b="1" i="0" lang="en-US" sz="1125" u="none" cap="none" strike="noStrike">
                <a:solidFill>
                  <a:srgbClr val="0F172A"/>
                </a:solidFill>
                <a:latin typeface="Lato"/>
                <a:ea typeface="Lato"/>
                <a:cs typeface="Lato"/>
                <a:sym typeface="Lato"/>
              </a:rPr>
              <a:t>Mitigate Technical Hub Churn:</a:t>
            </a:r>
            <a:r>
              <a:rPr b="0" i="0" lang="en-US" sz="1125" u="none" cap="none" strike="noStrike">
                <a:solidFill>
                  <a:srgbClr val="475569"/>
                </a:solidFill>
                <a:latin typeface="Lato"/>
                <a:ea typeface="Lato"/>
                <a:cs typeface="Lato"/>
                <a:sym typeface="Lato"/>
              </a:rPr>
              <a:t> Resolve the peak 51.21% R&amp;D attrition rate by introducing specialized project bonuses, innovation grants, and technical path advancements.</a:t>
            </a:r>
            <a:endParaRPr/>
          </a:p>
        </p:txBody>
      </p:sp>
      <p:pic>
        <p:nvPicPr>
          <p:cNvPr descr="image.png" id="310" name="Google Shape;310;p22"/>
          <p:cNvPicPr preferRelativeResize="0"/>
          <p:nvPr/>
        </p:nvPicPr>
        <p:blipFill rotWithShape="1">
          <a:blip r:embed="rId7">
            <a:alphaModFix/>
          </a:blip>
          <a:srcRect b="0" l="0" r="0" t="0"/>
          <a:stretch/>
        </p:blipFill>
        <p:spPr>
          <a:xfrm>
            <a:off x="5567957" y="1362967"/>
            <a:ext cx="142875" cy="200025"/>
          </a:xfrm>
          <a:prstGeom prst="rect">
            <a:avLst/>
          </a:prstGeom>
          <a:noFill/>
          <a:ln>
            <a:noFill/>
          </a:ln>
        </p:spPr>
      </p:pic>
      <p:pic>
        <p:nvPicPr>
          <p:cNvPr descr="image.png" id="311" name="Google Shape;311;p22"/>
          <p:cNvPicPr preferRelativeResize="0"/>
          <p:nvPr/>
        </p:nvPicPr>
        <p:blipFill rotWithShape="1">
          <a:blip r:embed="rId8">
            <a:alphaModFix/>
          </a:blip>
          <a:srcRect b="0" l="0" r="0" t="0"/>
          <a:stretch/>
        </p:blipFill>
        <p:spPr>
          <a:xfrm>
            <a:off x="5567957" y="2255341"/>
            <a:ext cx="190500" cy="200025"/>
          </a:xfrm>
          <a:prstGeom prst="rect">
            <a:avLst/>
          </a:prstGeom>
          <a:noFill/>
          <a:ln>
            <a:noFill/>
          </a:ln>
        </p:spPr>
      </p:pic>
      <p:pic>
        <p:nvPicPr>
          <p:cNvPr descr="image.png" id="312" name="Google Shape;312;p22"/>
          <p:cNvPicPr preferRelativeResize="0"/>
          <p:nvPr/>
        </p:nvPicPr>
        <p:blipFill rotWithShape="1">
          <a:blip r:embed="rId9">
            <a:alphaModFix/>
          </a:blip>
          <a:srcRect b="0" l="0" r="0" t="0"/>
          <a:stretch/>
        </p:blipFill>
        <p:spPr>
          <a:xfrm>
            <a:off x="5567957" y="3147714"/>
            <a:ext cx="190500" cy="200025"/>
          </a:xfrm>
          <a:prstGeom prst="rect">
            <a:avLst/>
          </a:prstGeom>
          <a:noFill/>
          <a:ln>
            <a:noFill/>
          </a:ln>
        </p:spPr>
      </p:pic>
      <p:pic>
        <p:nvPicPr>
          <p:cNvPr descr="image.png" id="313" name="Google Shape;313;p22"/>
          <p:cNvPicPr preferRelativeResize="0"/>
          <p:nvPr/>
        </p:nvPicPr>
        <p:blipFill rotWithShape="1">
          <a:blip r:embed="rId10">
            <a:alphaModFix/>
          </a:blip>
          <a:srcRect b="0" l="0" r="0" t="0"/>
          <a:stretch/>
        </p:blipFill>
        <p:spPr>
          <a:xfrm>
            <a:off x="5567957" y="4040088"/>
            <a:ext cx="190500" cy="200025"/>
          </a:xfrm>
          <a:prstGeom prst="rect">
            <a:avLst/>
          </a:prstGeom>
          <a:noFill/>
          <a:ln>
            <a:noFill/>
          </a:ln>
        </p:spPr>
      </p:pic>
      <p:pic>
        <p:nvPicPr>
          <p:cNvPr descr="image.png" id="314" name="Google Shape;314;p22"/>
          <p:cNvPicPr preferRelativeResize="0"/>
          <p:nvPr/>
        </p:nvPicPr>
        <p:blipFill rotWithShape="1">
          <a:blip r:embed="rId11">
            <a:alphaModFix/>
          </a:blip>
          <a:srcRect b="0" l="0" r="0" t="0"/>
          <a:stretch/>
        </p:blipFill>
        <p:spPr>
          <a:xfrm>
            <a:off x="5567957" y="4932461"/>
            <a:ext cx="238125" cy="200025"/>
          </a:xfrm>
          <a:prstGeom prst="rect">
            <a:avLst/>
          </a:prstGeom>
          <a:noFill/>
          <a:ln>
            <a:noFill/>
          </a:ln>
        </p:spPr>
      </p:pic>
      <p:sp>
        <p:nvSpPr>
          <p:cNvPr id="315" name="Google Shape;315;p22"/>
          <p:cNvSpPr txBox="1"/>
          <p:nvPr/>
        </p:nvSpPr>
        <p:spPr>
          <a:xfrm>
            <a:off x="904875" y="628650"/>
            <a:ext cx="11051381"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850" u="none" cap="none" strike="noStrike">
                <a:solidFill>
                  <a:srgbClr val="0F172A"/>
                </a:solidFill>
                <a:latin typeface="Poppins SemiBold"/>
                <a:ea typeface="Poppins SemiBold"/>
                <a:cs typeface="Poppins SemiBold"/>
                <a:sym typeface="Poppins SemiBold"/>
              </a:rPr>
              <a:t>Suggestions Based on the Data</a:t>
            </a:r>
            <a:endParaRPr/>
          </a:p>
        </p:txBody>
      </p:sp>
      <p:sp>
        <p:nvSpPr>
          <p:cNvPr id="316" name="Google Shape;316;p22"/>
          <p:cNvSpPr/>
          <p:nvPr/>
        </p:nvSpPr>
        <p:spPr>
          <a:xfrm>
            <a:off x="762000" y="628650"/>
            <a:ext cx="47625" cy="43428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20" name="Shape 320"/>
        <p:cNvGrpSpPr/>
        <p:nvPr/>
      </p:nvGrpSpPr>
      <p:grpSpPr>
        <a:xfrm>
          <a:off x="0" y="0"/>
          <a:ext cx="0" cy="0"/>
          <a:chOff x="0" y="0"/>
          <a:chExt cx="0" cy="0"/>
        </a:xfrm>
      </p:grpSpPr>
      <p:pic>
        <p:nvPicPr>
          <p:cNvPr descr="image.png" id="321" name="Google Shape;321;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22" name="Google Shape;322;p23"/>
          <p:cNvPicPr preferRelativeResize="0"/>
          <p:nvPr/>
        </p:nvPicPr>
        <p:blipFill rotWithShape="1">
          <a:blip r:embed="rId4">
            <a:alphaModFix/>
          </a:blip>
          <a:srcRect b="0" l="0" r="0" t="0"/>
          <a:stretch/>
        </p:blipFill>
        <p:spPr>
          <a:xfrm>
            <a:off x="762000" y="2291208"/>
            <a:ext cx="5238750" cy="1431131"/>
          </a:xfrm>
          <a:prstGeom prst="rect">
            <a:avLst/>
          </a:prstGeom>
          <a:noFill/>
          <a:ln>
            <a:noFill/>
          </a:ln>
        </p:spPr>
      </p:pic>
      <p:pic>
        <p:nvPicPr>
          <p:cNvPr descr="image.png" id="323" name="Google Shape;323;p23"/>
          <p:cNvPicPr preferRelativeResize="0"/>
          <p:nvPr/>
        </p:nvPicPr>
        <p:blipFill rotWithShape="1">
          <a:blip r:embed="rId5">
            <a:alphaModFix/>
          </a:blip>
          <a:srcRect b="0" l="0" r="0" t="0"/>
          <a:stretch/>
        </p:blipFill>
        <p:spPr>
          <a:xfrm>
            <a:off x="6191250" y="2291208"/>
            <a:ext cx="5238750" cy="1431131"/>
          </a:xfrm>
          <a:prstGeom prst="rect">
            <a:avLst/>
          </a:prstGeom>
          <a:noFill/>
          <a:ln>
            <a:noFill/>
          </a:ln>
        </p:spPr>
      </p:pic>
      <p:pic>
        <p:nvPicPr>
          <p:cNvPr descr="image.png" id="324" name="Google Shape;324;p23"/>
          <p:cNvPicPr preferRelativeResize="0"/>
          <p:nvPr/>
        </p:nvPicPr>
        <p:blipFill rotWithShape="1">
          <a:blip r:embed="rId6">
            <a:alphaModFix/>
          </a:blip>
          <a:srcRect b="0" l="0" r="0" t="0"/>
          <a:stretch/>
        </p:blipFill>
        <p:spPr>
          <a:xfrm>
            <a:off x="762000" y="3912840"/>
            <a:ext cx="5238750" cy="1431131"/>
          </a:xfrm>
          <a:prstGeom prst="rect">
            <a:avLst/>
          </a:prstGeom>
          <a:noFill/>
          <a:ln>
            <a:noFill/>
          </a:ln>
        </p:spPr>
      </p:pic>
      <p:pic>
        <p:nvPicPr>
          <p:cNvPr descr="image.png" id="325" name="Google Shape;325;p23"/>
          <p:cNvPicPr preferRelativeResize="0"/>
          <p:nvPr/>
        </p:nvPicPr>
        <p:blipFill rotWithShape="1">
          <a:blip r:embed="rId7">
            <a:alphaModFix/>
          </a:blip>
          <a:srcRect b="0" l="0" r="0" t="0"/>
          <a:stretch/>
        </p:blipFill>
        <p:spPr>
          <a:xfrm>
            <a:off x="6191250" y="3912840"/>
            <a:ext cx="5238750" cy="1431131"/>
          </a:xfrm>
          <a:prstGeom prst="rect">
            <a:avLst/>
          </a:prstGeom>
          <a:noFill/>
          <a:ln>
            <a:noFill/>
          </a:ln>
        </p:spPr>
      </p:pic>
      <p:pic>
        <p:nvPicPr>
          <p:cNvPr descr="image.png" id="326" name="Google Shape;326;p23"/>
          <p:cNvPicPr preferRelativeResize="0"/>
          <p:nvPr/>
        </p:nvPicPr>
        <p:blipFill rotWithShape="1">
          <a:blip r:embed="rId8">
            <a:alphaModFix/>
          </a:blip>
          <a:srcRect b="0" l="0" r="0" t="0"/>
          <a:stretch/>
        </p:blipFill>
        <p:spPr>
          <a:xfrm>
            <a:off x="762000" y="571500"/>
            <a:ext cx="10668000" cy="57150"/>
          </a:xfrm>
          <a:prstGeom prst="rect">
            <a:avLst/>
          </a:prstGeom>
          <a:noFill/>
          <a:ln>
            <a:noFill/>
          </a:ln>
        </p:spPr>
      </p:pic>
      <p:sp>
        <p:nvSpPr>
          <p:cNvPr id="327" name="Google Shape;327;p23"/>
          <p:cNvSpPr txBox="1"/>
          <p:nvPr/>
        </p:nvSpPr>
        <p:spPr>
          <a:xfrm>
            <a:off x="1314450" y="2529333"/>
            <a:ext cx="4670583" cy="2571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0F172A"/>
                </a:solidFill>
                <a:latin typeface="Poppins SemiBold"/>
                <a:ea typeface="Poppins SemiBold"/>
                <a:cs typeface="Poppins SemiBold"/>
                <a:sym typeface="Poppins SemiBold"/>
              </a:rPr>
              <a:t>End-to-End Analytics Competency</a:t>
            </a:r>
            <a:endParaRPr/>
          </a:p>
        </p:txBody>
      </p:sp>
      <p:sp>
        <p:nvSpPr>
          <p:cNvPr id="328" name="Google Shape;328;p23"/>
          <p:cNvSpPr txBox="1"/>
          <p:nvPr/>
        </p:nvSpPr>
        <p:spPr>
          <a:xfrm>
            <a:off x="1000125" y="2862708"/>
            <a:ext cx="4762500" cy="621506"/>
          </a:xfrm>
          <a:prstGeom prst="rect">
            <a:avLst/>
          </a:prstGeom>
          <a:noFill/>
          <a:ln>
            <a:noFill/>
          </a:ln>
        </p:spPr>
        <p:txBody>
          <a:bodyPr anchorCtr="0" anchor="t" bIns="0" lIns="0" spcFirstLastPara="1" rIns="0" wrap="square" tIns="0">
            <a:spAutoFit/>
          </a:bodyPr>
          <a:lstStyle/>
          <a:p>
            <a:pPr indent="0" lvl="0" marL="0" marR="0" rtl="0" algn="l">
              <a:lnSpc>
                <a:spcPct val="150046"/>
              </a:lnSpc>
              <a:spcBef>
                <a:spcPts val="0"/>
              </a:spcBef>
              <a:spcAft>
                <a:spcPts val="0"/>
              </a:spcAft>
              <a:buNone/>
            </a:pPr>
            <a:r>
              <a:rPr b="0" i="0" lang="en-US" sz="1087" u="none" cap="none" strike="noStrike">
                <a:solidFill>
                  <a:srgbClr val="475569"/>
                </a:solidFill>
                <a:latin typeface="Lato"/>
                <a:ea typeface="Lato"/>
                <a:cs typeface="Lato"/>
                <a:sym typeface="Lato"/>
              </a:rPr>
              <a:t>Successfully executed a full-stack analyst pipeline: verifying data integrity, designing robust schemas in SQL and Excel, and publishing dynamic business intelligence dashboards in Power BI and Tableau.</a:t>
            </a:r>
            <a:endParaRPr/>
          </a:p>
        </p:txBody>
      </p:sp>
      <p:sp>
        <p:nvSpPr>
          <p:cNvPr id="329" name="Google Shape;329;p23"/>
          <p:cNvSpPr txBox="1"/>
          <p:nvPr/>
        </p:nvSpPr>
        <p:spPr>
          <a:xfrm>
            <a:off x="6715125" y="2529333"/>
            <a:ext cx="4700587" cy="2571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0F172A"/>
                </a:solidFill>
                <a:latin typeface="Poppins SemiBold"/>
                <a:ea typeface="Poppins SemiBold"/>
                <a:cs typeface="Poppins SemiBold"/>
                <a:sym typeface="Poppins SemiBold"/>
              </a:rPr>
              <a:t>Evolved Business Intelligence Architecture</a:t>
            </a:r>
            <a:endParaRPr/>
          </a:p>
        </p:txBody>
      </p:sp>
      <p:sp>
        <p:nvSpPr>
          <p:cNvPr id="330" name="Google Shape;330;p23"/>
          <p:cNvSpPr txBox="1"/>
          <p:nvPr/>
        </p:nvSpPr>
        <p:spPr>
          <a:xfrm>
            <a:off x="6429375" y="2862708"/>
            <a:ext cx="4762500" cy="621506"/>
          </a:xfrm>
          <a:prstGeom prst="rect">
            <a:avLst/>
          </a:prstGeom>
          <a:noFill/>
          <a:ln>
            <a:noFill/>
          </a:ln>
        </p:spPr>
        <p:txBody>
          <a:bodyPr anchorCtr="0" anchor="t" bIns="0" lIns="0" spcFirstLastPara="1" rIns="0" wrap="square" tIns="0">
            <a:spAutoFit/>
          </a:bodyPr>
          <a:lstStyle/>
          <a:p>
            <a:pPr indent="0" lvl="0" marL="0" marR="0" rtl="0" algn="l">
              <a:lnSpc>
                <a:spcPct val="150046"/>
              </a:lnSpc>
              <a:spcBef>
                <a:spcPts val="0"/>
              </a:spcBef>
              <a:spcAft>
                <a:spcPts val="0"/>
              </a:spcAft>
              <a:buNone/>
            </a:pPr>
            <a:r>
              <a:rPr b="0" i="0" lang="en-US" sz="1087" u="none" cap="none" strike="noStrike">
                <a:solidFill>
                  <a:srgbClr val="475569"/>
                </a:solidFill>
                <a:latin typeface="Lato"/>
                <a:ea typeface="Lato"/>
                <a:cs typeface="Lato"/>
                <a:sym typeface="Lato"/>
              </a:rPr>
              <a:t>Converted a massive, disjointed dataset of 50,000 workforce records into an integrated enterprise-grade reporting ecosystem, empowering stakeholders to drill down past superficial high-level averages.</a:t>
            </a:r>
            <a:endParaRPr/>
          </a:p>
        </p:txBody>
      </p:sp>
      <p:sp>
        <p:nvSpPr>
          <p:cNvPr id="331" name="Google Shape;331;p23"/>
          <p:cNvSpPr txBox="1"/>
          <p:nvPr/>
        </p:nvSpPr>
        <p:spPr>
          <a:xfrm>
            <a:off x="1228725" y="4150965"/>
            <a:ext cx="4760595" cy="2571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0F172A"/>
                </a:solidFill>
                <a:latin typeface="Poppins SemiBold"/>
                <a:ea typeface="Poppins SemiBold"/>
                <a:cs typeface="Poppins SemiBold"/>
                <a:sym typeface="Poppins SemiBold"/>
              </a:rPr>
              <a:t>Empirical Strategic Clarity</a:t>
            </a:r>
            <a:endParaRPr/>
          </a:p>
        </p:txBody>
      </p:sp>
      <p:sp>
        <p:nvSpPr>
          <p:cNvPr id="332" name="Google Shape;332;p23"/>
          <p:cNvSpPr txBox="1"/>
          <p:nvPr/>
        </p:nvSpPr>
        <p:spPr>
          <a:xfrm>
            <a:off x="1000125" y="4484340"/>
            <a:ext cx="4762500" cy="621506"/>
          </a:xfrm>
          <a:prstGeom prst="rect">
            <a:avLst/>
          </a:prstGeom>
          <a:noFill/>
          <a:ln>
            <a:noFill/>
          </a:ln>
        </p:spPr>
        <p:txBody>
          <a:bodyPr anchorCtr="0" anchor="t" bIns="0" lIns="0" spcFirstLastPara="1" rIns="0" wrap="square" tIns="0">
            <a:spAutoFit/>
          </a:bodyPr>
          <a:lstStyle/>
          <a:p>
            <a:pPr indent="0" lvl="0" marL="0" marR="0" rtl="0" algn="l">
              <a:lnSpc>
                <a:spcPct val="150046"/>
              </a:lnSpc>
              <a:spcBef>
                <a:spcPts val="0"/>
              </a:spcBef>
              <a:spcAft>
                <a:spcPts val="0"/>
              </a:spcAft>
              <a:buNone/>
            </a:pPr>
            <a:r>
              <a:rPr b="0" i="0" lang="en-US" sz="1087" u="none" cap="none" strike="noStrike">
                <a:solidFill>
                  <a:srgbClr val="475569"/>
                </a:solidFill>
                <a:latin typeface="Lato"/>
                <a:ea typeface="Lato"/>
                <a:cs typeface="Lato"/>
                <a:sym typeface="Lato"/>
              </a:rPr>
              <a:t>Isolated the severe 50.21% macro attrition rate and systematically mapped it to chronic career promotion freezes (climbing to 77.78% risk) and high-earner compensation boundaries to define target retention rules.</a:t>
            </a:r>
            <a:endParaRPr/>
          </a:p>
        </p:txBody>
      </p:sp>
      <p:sp>
        <p:nvSpPr>
          <p:cNvPr id="333" name="Google Shape;333;p23"/>
          <p:cNvSpPr txBox="1"/>
          <p:nvPr/>
        </p:nvSpPr>
        <p:spPr>
          <a:xfrm>
            <a:off x="6696075" y="4150965"/>
            <a:ext cx="4720590" cy="2571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0F172A"/>
                </a:solidFill>
                <a:latin typeface="Poppins SemiBold"/>
                <a:ea typeface="Poppins SemiBold"/>
                <a:cs typeface="Poppins SemiBold"/>
                <a:sym typeface="Poppins SemiBold"/>
              </a:rPr>
              <a:t>Measurable Corporate Optimization Impact</a:t>
            </a:r>
            <a:endParaRPr/>
          </a:p>
        </p:txBody>
      </p:sp>
      <p:sp>
        <p:nvSpPr>
          <p:cNvPr id="334" name="Google Shape;334;p23"/>
          <p:cNvSpPr txBox="1"/>
          <p:nvPr/>
        </p:nvSpPr>
        <p:spPr>
          <a:xfrm>
            <a:off x="6429375" y="4484340"/>
            <a:ext cx="4762500" cy="621506"/>
          </a:xfrm>
          <a:prstGeom prst="rect">
            <a:avLst/>
          </a:prstGeom>
          <a:noFill/>
          <a:ln>
            <a:noFill/>
          </a:ln>
        </p:spPr>
        <p:txBody>
          <a:bodyPr anchorCtr="0" anchor="t" bIns="0" lIns="0" spcFirstLastPara="1" rIns="0" wrap="square" tIns="0">
            <a:spAutoFit/>
          </a:bodyPr>
          <a:lstStyle/>
          <a:p>
            <a:pPr indent="0" lvl="0" marL="0" marR="0" rtl="0" algn="l">
              <a:lnSpc>
                <a:spcPct val="150046"/>
              </a:lnSpc>
              <a:spcBef>
                <a:spcPts val="0"/>
              </a:spcBef>
              <a:spcAft>
                <a:spcPts val="0"/>
              </a:spcAft>
              <a:buNone/>
            </a:pPr>
            <a:r>
              <a:rPr b="0" i="0" lang="en-US" sz="1087" u="none" cap="none" strike="noStrike">
                <a:solidFill>
                  <a:srgbClr val="475569"/>
                </a:solidFill>
                <a:latin typeface="Lato"/>
                <a:ea typeface="Lato"/>
                <a:cs typeface="Lato"/>
                <a:sym typeface="Lato"/>
              </a:rPr>
              <a:t>Transitioning from static, descriptive lists to proactive multi-tool analytical forecasting equips executive decision-makers with the infrastructure to curb recruit onboarding costs and protect veteran legacy assets.</a:t>
            </a:r>
            <a:endParaRPr/>
          </a:p>
        </p:txBody>
      </p:sp>
      <p:pic>
        <p:nvPicPr>
          <p:cNvPr descr="image.png" id="335" name="Google Shape;335;p23"/>
          <p:cNvPicPr preferRelativeResize="0"/>
          <p:nvPr/>
        </p:nvPicPr>
        <p:blipFill rotWithShape="1">
          <a:blip r:embed="rId9">
            <a:alphaModFix/>
          </a:blip>
          <a:srcRect b="0" l="0" r="0" t="0"/>
          <a:stretch/>
        </p:blipFill>
        <p:spPr>
          <a:xfrm>
            <a:off x="1000125" y="2572196"/>
            <a:ext cx="219075" cy="171450"/>
          </a:xfrm>
          <a:prstGeom prst="rect">
            <a:avLst/>
          </a:prstGeom>
          <a:noFill/>
          <a:ln>
            <a:noFill/>
          </a:ln>
        </p:spPr>
      </p:pic>
      <p:pic>
        <p:nvPicPr>
          <p:cNvPr descr="image.png" id="336" name="Google Shape;336;p23"/>
          <p:cNvPicPr preferRelativeResize="0"/>
          <p:nvPr/>
        </p:nvPicPr>
        <p:blipFill rotWithShape="1">
          <a:blip r:embed="rId10">
            <a:alphaModFix/>
          </a:blip>
          <a:srcRect b="0" l="0" r="0" t="0"/>
          <a:stretch/>
        </p:blipFill>
        <p:spPr>
          <a:xfrm>
            <a:off x="6429375" y="2572196"/>
            <a:ext cx="190500" cy="171450"/>
          </a:xfrm>
          <a:prstGeom prst="rect">
            <a:avLst/>
          </a:prstGeom>
          <a:noFill/>
          <a:ln>
            <a:noFill/>
          </a:ln>
        </p:spPr>
      </p:pic>
      <p:pic>
        <p:nvPicPr>
          <p:cNvPr descr="image.png" id="337" name="Google Shape;337;p23"/>
          <p:cNvPicPr preferRelativeResize="0"/>
          <p:nvPr/>
        </p:nvPicPr>
        <p:blipFill rotWithShape="1">
          <a:blip r:embed="rId11">
            <a:alphaModFix/>
          </a:blip>
          <a:srcRect b="0" l="0" r="0" t="0"/>
          <a:stretch/>
        </p:blipFill>
        <p:spPr>
          <a:xfrm>
            <a:off x="1000125" y="4193827"/>
            <a:ext cx="133350" cy="171450"/>
          </a:xfrm>
          <a:prstGeom prst="rect">
            <a:avLst/>
          </a:prstGeom>
          <a:noFill/>
          <a:ln>
            <a:noFill/>
          </a:ln>
        </p:spPr>
      </p:pic>
      <p:pic>
        <p:nvPicPr>
          <p:cNvPr descr="image.png" id="338" name="Google Shape;338;p23"/>
          <p:cNvPicPr preferRelativeResize="0"/>
          <p:nvPr/>
        </p:nvPicPr>
        <p:blipFill rotWithShape="1">
          <a:blip r:embed="rId12">
            <a:alphaModFix/>
          </a:blip>
          <a:srcRect b="0" l="0" r="0" t="0"/>
          <a:stretch/>
        </p:blipFill>
        <p:spPr>
          <a:xfrm>
            <a:off x="6429375" y="4193827"/>
            <a:ext cx="171450" cy="171450"/>
          </a:xfrm>
          <a:prstGeom prst="rect">
            <a:avLst/>
          </a:prstGeom>
          <a:noFill/>
          <a:ln>
            <a:noFill/>
          </a:ln>
        </p:spPr>
      </p:pic>
      <p:sp>
        <p:nvSpPr>
          <p:cNvPr id="339" name="Google Shape;339;p23"/>
          <p:cNvSpPr txBox="1"/>
          <p:nvPr/>
        </p:nvSpPr>
        <p:spPr>
          <a:xfrm>
            <a:off x="904875" y="628650"/>
            <a:ext cx="11051381"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850" u="none" cap="none" strike="noStrike">
                <a:solidFill>
                  <a:srgbClr val="0F172A"/>
                </a:solidFill>
                <a:latin typeface="Poppins SemiBold"/>
                <a:ea typeface="Poppins SemiBold"/>
                <a:cs typeface="Poppins SemiBold"/>
                <a:sym typeface="Poppins SemiBold"/>
              </a:rPr>
              <a:t>Conclusion of the Project</a:t>
            </a:r>
            <a:endParaRPr/>
          </a:p>
        </p:txBody>
      </p:sp>
      <p:sp>
        <p:nvSpPr>
          <p:cNvPr id="340" name="Google Shape;340;p23"/>
          <p:cNvSpPr/>
          <p:nvPr/>
        </p:nvSpPr>
        <p:spPr>
          <a:xfrm>
            <a:off x="762000" y="628650"/>
            <a:ext cx="47625" cy="43428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44" name="Shape 344"/>
        <p:cNvGrpSpPr/>
        <p:nvPr/>
      </p:nvGrpSpPr>
      <p:grpSpPr>
        <a:xfrm>
          <a:off x="0" y="0"/>
          <a:ext cx="0" cy="0"/>
          <a:chOff x="0" y="0"/>
          <a:chExt cx="0" cy="0"/>
        </a:xfrm>
      </p:grpSpPr>
      <p:pic>
        <p:nvPicPr>
          <p:cNvPr descr="image.png" id="345" name="Google Shape;345;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6" name="Google Shape;346;p24"/>
          <p:cNvPicPr preferRelativeResize="0"/>
          <p:nvPr/>
        </p:nvPicPr>
        <p:blipFill rotWithShape="1">
          <a:blip r:embed="rId4">
            <a:alphaModFix/>
          </a:blip>
          <a:srcRect b="0" l="0" r="0" t="0"/>
          <a:stretch/>
        </p:blipFill>
        <p:spPr>
          <a:xfrm>
            <a:off x="5056300" y="4235375"/>
            <a:ext cx="2079375" cy="628650"/>
          </a:xfrm>
          <a:prstGeom prst="rect">
            <a:avLst/>
          </a:prstGeom>
          <a:noFill/>
          <a:ln>
            <a:noFill/>
          </a:ln>
        </p:spPr>
      </p:pic>
      <p:pic>
        <p:nvPicPr>
          <p:cNvPr descr="image.png" id="347" name="Google Shape;347;p24"/>
          <p:cNvPicPr preferRelativeResize="0"/>
          <p:nvPr/>
        </p:nvPicPr>
        <p:blipFill rotWithShape="1">
          <a:blip r:embed="rId5">
            <a:alphaModFix/>
          </a:blip>
          <a:srcRect b="0" l="0" r="0" t="0"/>
          <a:stretch/>
        </p:blipFill>
        <p:spPr>
          <a:xfrm>
            <a:off x="762000" y="571500"/>
            <a:ext cx="10668000" cy="56554"/>
          </a:xfrm>
          <a:prstGeom prst="rect">
            <a:avLst/>
          </a:prstGeom>
          <a:noFill/>
          <a:ln>
            <a:noFill/>
          </a:ln>
        </p:spPr>
      </p:pic>
      <p:sp>
        <p:nvSpPr>
          <p:cNvPr id="348" name="Google Shape;348;p24"/>
          <p:cNvSpPr txBox="1"/>
          <p:nvPr/>
        </p:nvSpPr>
        <p:spPr>
          <a:xfrm>
            <a:off x="4571998" y="3122343"/>
            <a:ext cx="3220500" cy="646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4200" u="none" cap="none" strike="noStrike">
                <a:solidFill>
                  <a:srgbClr val="0F172A"/>
                </a:solidFill>
                <a:latin typeface="Poppins"/>
                <a:ea typeface="Poppins"/>
                <a:cs typeface="Poppins"/>
                <a:sym typeface="Poppins"/>
              </a:rPr>
              <a:t>Thank You!</a:t>
            </a:r>
            <a:endParaRPr/>
          </a:p>
        </p:txBody>
      </p:sp>
      <p:sp>
        <p:nvSpPr>
          <p:cNvPr id="349" name="Google Shape;349;p24"/>
          <p:cNvSpPr txBox="1"/>
          <p:nvPr/>
        </p:nvSpPr>
        <p:spPr>
          <a:xfrm>
            <a:off x="5934094" y="4486238"/>
            <a:ext cx="11001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825">
                <a:solidFill>
                  <a:srgbClr val="475569"/>
                </a:solidFill>
                <a:latin typeface="Lato"/>
                <a:ea typeface="Lato"/>
                <a:cs typeface="Lato"/>
                <a:sym typeface="Lato"/>
              </a:rPr>
              <a:t>TEAM</a:t>
            </a:r>
            <a:endParaRPr/>
          </a:p>
        </p:txBody>
      </p:sp>
      <p:sp>
        <p:nvSpPr>
          <p:cNvPr id="350" name="Google Shape;350;p24"/>
          <p:cNvSpPr txBox="1"/>
          <p:nvPr/>
        </p:nvSpPr>
        <p:spPr>
          <a:xfrm>
            <a:off x="5545919" y="4683025"/>
            <a:ext cx="11001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0F172A"/>
                </a:solidFill>
                <a:latin typeface="Lato"/>
                <a:ea typeface="Lato"/>
                <a:cs typeface="Lato"/>
                <a:sym typeface="Lato"/>
              </a:rPr>
              <a:t>Group 1</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